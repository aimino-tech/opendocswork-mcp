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/>
</p:presentation>
</file>

<file path=ppt/presProps.xml><?xml version="1.0" encoding="utf-8"?>
<p:presProps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>
      <p:cViewPr varScale="1"/>
    </p:cSldViewPr>
  </p:slideViewPr>
  <p:notesTextViewPr>
    <p:cViewPr/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10" Type="http://schemas.openxmlformats.org/officeDocument/2006/relationships/theme" Target="theme/theme1.xml"/>
  <Relationship Id="rId11" Type="http://schemas.openxmlformats.org/officeDocument/2006/relationships/presProps" Target="presProps.xml"/>
  <Relationship Id="rId12" Type="http://schemas.openxmlformats.org/officeDocument/2006/relationships/tableStyles" Target="tableStyles.xml"/>
  <Relationship Id="rId13" Type="http://schemas.openxmlformats.org/officeDocument/2006/relationships/viewProps" Target="viewProps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5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5B9BD5"/>
                </a:solidFill>
              </a:rPr>
              <a:t xml:space="preserve">BOARD PRESENTATION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685800" y="1900000"/>
            <a:ext cx="10820400" cy="11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800" lang="en-US" b="1" ea="Calibri">
                <a:solidFill>
                  <a:srgbClr val="FFFFFF"/>
                </a:solidFill>
              </a:rPr>
              <a:t xml:space="preserve">Q4 FY 2025 Business Review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000000" y="31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Subtitle"/>
          <p:cNvSpPr txBox="1"/>
          <p:nvPr/>
        </p:nvSpPr>
        <p:spPr>
          <a:xfrm>
            <a:off x="685800" y="3300000"/>
            <a:ext cx="10820400" cy="9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800" lang="en-US" ea="Calibri">
                <a:solidFill>
                  <a:srgbClr val="A0C8E8"/>
                </a:solidFill>
              </a:rPr>
              <a:t xml:space="preserve">Acme Corp — Financial Performance &amp; Outlook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Prepared for the Board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May 2026</a:t>
            </a:r>
          </a:p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Executive Summary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Record revenue of $11.8M in Q4 2025 (+32%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Full-year revenue of $39.1M (+28% YoY), exceeding guidance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Gross margin expanded 230bps to 62.8%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Operating income of $3.1M (26.5% margin)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Free cash flow of $2.4M, up 200% YoY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Customer count grew to 210, with 52 enterprise clients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Revenue Performance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CalloutBg"/>
          <p:cNvSpPr>
            <a:spLocks noGrp="1"/>
          </p:cNvSpPr>
          <p:nvPr/>
        </p:nvSpPr>
        <p:spPr>
          <a:xfrm>
            <a:off x="759800" y="904000"/>
            <a:ext cx="10726400" cy="340000"/>
          </a:xfrm>
          <a:prstGeom prst="rect">
            <a:avLst/>
          </a:prstGeom>
          <a:solidFill>
            <a:srgbClr val="EDF4FA"/>
          </a:solidFill>
          <a:ln w="0"/>
        </p:spPr>
        <p:txBody>
          <a:bodyPr/>
          <a:lstStyle/>
          <a:p/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759800" y="904000"/>
            <a:ext cx="30000" cy="34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CalloutText"/>
          <p:cNvSpPr txBox="1"/>
          <p:nvPr/>
        </p:nvSpPr>
        <p:spPr>
          <a:xfrm>
            <a:off x="859800" y="944000"/>
            <a:ext cx="10526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900" lang="en-US" ea="Calibri">
                <a:solidFill>
                  <a:srgbClr val="2D2D2D"/>
                </a:solidFill>
              </a:rPr>
              <a:t xml:space="preserve">Record $11.8M in Q4 2025 — all segments exceeded guidance.</a:t>
            </a:r>
          </a:p>
        </p:txBody>
      </p:sp>
      <p:sp>
        <p:nvSpPr>
          <p:cNvPr id="9" name="ChVal0"/>
          <p:cNvSpPr txBox="1"/>
          <p:nvPr/>
        </p:nvSpPr>
        <p:spPr>
          <a:xfrm>
            <a:off x="7773960" y="1344000"/>
            <a:ext cx="3592240" cy="28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400" lang="en-US" b="1" ea="Calibri">
                <a:solidFill>
                  <a:srgbClr val="003A70"/>
                </a:solidFill>
              </a:rPr>
              <a:t xml:space="preserve">70%</a:t>
            </a:r>
          </a:p>
        </p:txBody>
      </p:sp>
      <p:sp>
        <p:nvSpPr>
          <p:cNvPr id="10" name="ChBg0"/>
          <p:cNvSpPr>
            <a:spLocks noGrp="1"/>
          </p:cNvSpPr>
          <p:nvPr/>
        </p:nvSpPr>
        <p:spPr>
          <a:xfrm>
            <a:off x="819800" y="1344000"/>
            <a:ext cx="6894160" cy="280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11" name="ChBar0"/>
          <p:cNvSpPr>
            <a:spLocks noGrp="1"/>
          </p:cNvSpPr>
          <p:nvPr/>
        </p:nvSpPr>
        <p:spPr>
          <a:xfrm>
            <a:off x="819800" y="1344000"/>
            <a:ext cx="6894160" cy="28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12" name="ChLbl0"/>
          <p:cNvSpPr txBox="1"/>
          <p:nvPr/>
        </p:nvSpPr>
        <p:spPr>
          <a:xfrm>
            <a:off x="819800" y="1634000"/>
            <a:ext cx="689416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200" lang="en-US" ea="Calibri">
                <a:solidFill>
                  <a:srgbClr val="2D2D2D"/>
                </a:solidFill>
              </a:rPr>
              <a:t xml:space="preserve">Product Revenue</a:t>
            </a:r>
          </a:p>
        </p:txBody>
      </p:sp>
      <p:sp>
        <p:nvSpPr>
          <p:cNvPr id="13" name="ChVal1"/>
          <p:cNvSpPr txBox="1"/>
          <p:nvPr/>
        </p:nvSpPr>
        <p:spPr>
          <a:xfrm>
            <a:off x="7773960" y="1844000"/>
            <a:ext cx="3592240" cy="28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400" lang="en-US" b="1" ea="Calibri">
                <a:solidFill>
                  <a:srgbClr val="5B9BD5"/>
                </a:solidFill>
              </a:rPr>
              <a:t xml:space="preserve">20%</a:t>
            </a:r>
          </a:p>
        </p:txBody>
      </p:sp>
      <p:sp>
        <p:nvSpPr>
          <p:cNvPr id="14" name="ChBg1"/>
          <p:cNvSpPr>
            <a:spLocks noGrp="1"/>
          </p:cNvSpPr>
          <p:nvPr/>
        </p:nvSpPr>
        <p:spPr>
          <a:xfrm>
            <a:off x="819800" y="1844000"/>
            <a:ext cx="6894160" cy="280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15" name="ChBar1"/>
          <p:cNvSpPr>
            <a:spLocks noGrp="1"/>
          </p:cNvSpPr>
          <p:nvPr/>
        </p:nvSpPr>
        <p:spPr>
          <a:xfrm>
            <a:off x="819800" y="1844000"/>
            <a:ext cx="1969760" cy="28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16" name="ChLbl1"/>
          <p:cNvSpPr txBox="1"/>
          <p:nvPr/>
        </p:nvSpPr>
        <p:spPr>
          <a:xfrm>
            <a:off x="819800" y="2134000"/>
            <a:ext cx="689416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200" lang="en-US" ea="Calibri">
                <a:solidFill>
                  <a:srgbClr val="2D2D2D"/>
                </a:solidFill>
              </a:rPr>
              <a:t xml:space="preserve">Service Revenue</a:t>
            </a:r>
          </a:p>
        </p:txBody>
      </p:sp>
      <p:sp>
        <p:nvSpPr>
          <p:cNvPr id="17" name="ChVal2"/>
          <p:cNvSpPr txBox="1"/>
          <p:nvPr/>
        </p:nvSpPr>
        <p:spPr>
          <a:xfrm>
            <a:off x="7773960" y="2344000"/>
            <a:ext cx="3592240" cy="28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400" lang="en-US" b="1" ea="Calibri">
                <a:solidFill>
                  <a:srgbClr val="70AD47"/>
                </a:solidFill>
              </a:rPr>
              <a:t xml:space="preserve">10%</a:t>
            </a:r>
          </a:p>
        </p:txBody>
      </p:sp>
      <p:sp>
        <p:nvSpPr>
          <p:cNvPr id="18" name="ChBg2"/>
          <p:cNvSpPr>
            <a:spLocks noGrp="1"/>
          </p:cNvSpPr>
          <p:nvPr/>
        </p:nvSpPr>
        <p:spPr>
          <a:xfrm>
            <a:off x="819800" y="2344000"/>
            <a:ext cx="6894160" cy="280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19" name="ChBar2"/>
          <p:cNvSpPr>
            <a:spLocks noGrp="1"/>
          </p:cNvSpPr>
          <p:nvPr/>
        </p:nvSpPr>
        <p:spPr>
          <a:xfrm>
            <a:off x="819800" y="2344000"/>
            <a:ext cx="984880" cy="280000"/>
          </a:xfrm>
          <a:prstGeom prst="rect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20" name="ChLbl2"/>
          <p:cNvSpPr txBox="1"/>
          <p:nvPr/>
        </p:nvSpPr>
        <p:spPr>
          <a:xfrm>
            <a:off x="819800" y="2634000"/>
            <a:ext cx="689416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200" lang="en-US" ea="Calibri">
                <a:solidFill>
                  <a:srgbClr val="2D2D2D"/>
                </a:solidFill>
              </a:rPr>
              <a:t xml:space="preserve">Licensing Revenue</a:t>
            </a:r>
          </a:p>
        </p:txBody>
      </p:sp>
      <p:sp>
        <p:nvSpPr>
          <p:cNvPr id="21" name="BodyContent"/>
          <p:cNvSpPr>
            <a:spLocks noGrp="1"/>
          </p:cNvSpPr>
          <p:nvPr/>
        </p:nvSpPr>
        <p:spPr>
          <a:xfrm>
            <a:off x="819800" y="1724000"/>
            <a:ext cx="10606400" cy="150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All segments exceeded Q4 guidance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New Customer ARR: </a:t>
            </a:r>
            <a:r>
              <a:rPr sz="1800" lang="en-US" ea="Calibri">
                <a:solidFill>
                  <a:srgbClr val="2D2D2D"/>
                </a:solidFill>
              </a:rPr>
              <a:t xml:space="preserve">$3.8M (+45%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Net Revenue Retention: </a:t>
            </a:r>
            <a:r>
              <a:rPr sz="1800" lang="en-US" ea="Calibri">
                <a:solidFill>
                  <a:srgbClr val="2D2D2D"/>
                </a:solidFill>
              </a:rPr>
              <a:t xml:space="preserve">120% (+8pp vs prior year)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Profitability Analysis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Gross Margin: </a:t>
            </a:r>
            <a:r>
              <a:rPr sz="1800" lang="en-US" ea="Calibri">
                <a:solidFill>
                  <a:srgbClr val="2D2D2D"/>
                </a:solidFill>
              </a:rPr>
              <a:t xml:space="preserve">62.8% (+230bps YoY) — driven by scale efficiencies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Operating Margin: </a:t>
            </a:r>
            <a:r>
              <a:rPr sz="1800" lang="en-US" ea="Calibri">
                <a:solidFill>
                  <a:srgbClr val="2D2D2D"/>
                </a:solidFill>
              </a:rPr>
              <a:t xml:space="preserve">26.5% (+450bps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Net Margin: </a:t>
            </a:r>
            <a:r>
              <a:rPr sz="1800" lang="en-US" ea="Calibri">
                <a:solidFill>
                  <a:srgbClr val="2D2D2D"/>
                </a:solidFill>
              </a:rPr>
              <a:t xml:space="preserve">19.9% (+340bps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EBITDA Margin: </a:t>
            </a:r>
            <a:r>
              <a:rPr sz="1800" lang="en-US" ea="Calibri">
                <a:solidFill>
                  <a:srgbClr val="2D2D2D"/>
                </a:solidFill>
              </a:rPr>
              <a:t xml:space="preserve">29.0% (+450bps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R&amp;D investment: </a:t>
            </a:r>
            <a:r>
              <a:rPr sz="1800" lang="en-US" ea="Calibri">
                <a:solidFill>
                  <a:srgbClr val="2D2D2D"/>
                </a:solidFill>
              </a:rPr>
              <a:t xml:space="preserve">10.5% of revenue (maintaining innovation pipeline)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S&amp;M efficiency: </a:t>
            </a:r>
            <a:r>
              <a:rPr sz="1800" lang="en-US" ea="Calibri">
                <a:solidFill>
                  <a:srgbClr val="2D2D2D"/>
                </a:solidFill>
              </a:rPr>
              <a:t xml:space="preserve">Magic Number improved to 1.02x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Cash Flow &amp; Balance Sheet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Operating Cash Flow: </a:t>
            </a:r>
            <a:r>
              <a:rPr sz="1800" lang="en-US" ea="Calibri">
                <a:solidFill>
                  <a:srgbClr val="2D2D2D"/>
                </a:solidFill>
              </a:rPr>
              <a:t xml:space="preserve">$3.1M (+158%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Free Cash Flow: </a:t>
            </a:r>
            <a:r>
              <a:rPr sz="1800" lang="en-US" ea="Calibri">
                <a:solidFill>
                  <a:srgbClr val="2D2D2D"/>
                </a:solidFill>
              </a:rPr>
              <a:t xml:space="preserve">$2.4M (+200%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Cash &amp; Equivalents: </a:t>
            </a:r>
            <a:r>
              <a:rPr sz="1800" lang="en-US" ea="Calibri">
                <a:solidFill>
                  <a:srgbClr val="2D2D2D"/>
                </a:solidFill>
              </a:rPr>
              <a:t xml:space="preserve">$8.2M (up from $5.8M in FY 2024)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Debt-free balance sheet with $8.2M cash and zero debt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Cash runway: </a:t>
            </a:r>
            <a:r>
              <a:rPr sz="1800" lang="en-US" ea="Calibri">
                <a:solidFill>
                  <a:srgbClr val="2D2D2D"/>
                </a:solidFill>
              </a:rPr>
              <a:t xml:space="preserve">36 months at current burn rate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DSO improved to 38 days from 45 days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Customer Metrics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Total Customers: </a:t>
            </a:r>
            <a:r>
              <a:rPr sz="1800" lang="en-US" ea="Calibri">
                <a:solidFill>
                  <a:srgbClr val="2D2D2D"/>
                </a:solidFill>
              </a:rPr>
              <a:t xml:space="preserve">210 (up from 120, +75%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Enterprise Customers: </a:t>
            </a:r>
            <a:r>
              <a:rPr sz="1800" lang="en-US" ea="Calibri">
                <a:solidFill>
                  <a:srgbClr val="2D2D2D"/>
                </a:solidFill>
              </a:rPr>
              <a:t xml:space="preserve">52 (up from 28, +86%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Average Contract Value: </a:t>
            </a:r>
            <a:r>
              <a:rPr sz="1800" lang="en-US" ea="Calibri">
                <a:solidFill>
                  <a:srgbClr val="2D2D2D"/>
                </a:solidFill>
              </a:rPr>
              <a:t xml:space="preserve">$105K (+24%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Customer Acquisition Cost: </a:t>
            </a:r>
            <a:r>
              <a:rPr sz="1800" lang="en-US" ea="Calibri">
                <a:solidFill>
                  <a:srgbClr val="2D2D2D"/>
                </a:solidFill>
              </a:rPr>
              <a:t xml:space="preserve">$10.5K (-16% YoY)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LTV/CAC Ratio: </a:t>
            </a:r>
            <a:r>
              <a:rPr sz="1800" lang="en-US" ea="Calibri">
                <a:solidFill>
                  <a:srgbClr val="2D2D2D"/>
                </a:solidFill>
              </a:rPr>
              <a:t xml:space="preserve">27.1x (up from 18.0x)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Net Promoter Score: </a:t>
            </a:r>
            <a:r>
              <a:rPr sz="1800" lang="en-US" ea="Calibri">
                <a:solidFill>
                  <a:srgbClr val="2D2D2D"/>
                </a:solidFill>
              </a:rPr>
              <a:t xml:space="preserve">72 (up from 58)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FY 2026 Guidance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Revenue Guidance: </a:t>
            </a:r>
            <a:r>
              <a:rPr sz="1800" lang="en-US" ea="Calibri">
                <a:solidFill>
                  <a:srgbClr val="2D2D2D"/>
                </a:solidFill>
              </a:rPr>
              <a:t xml:space="preserve">$48-52M (25-30% growth)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Gross Margin: </a:t>
            </a:r>
            <a:r>
              <a:rPr sz="1800" lang="en-US" ea="Calibri">
                <a:solidFill>
                  <a:srgbClr val="2D2D2D"/>
                </a:solidFill>
              </a:rPr>
              <a:t xml:space="preserve">63-65% (continued expansion)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Operating Margin: </a:t>
            </a:r>
            <a:r>
              <a:rPr sz="1800" lang="en-US" ea="Calibri">
                <a:solidFill>
                  <a:srgbClr val="2D2D2D"/>
                </a:solidFill>
              </a:rPr>
              <a:t xml:space="preserve">26-28%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Strategic Investment: </a:t>
            </a:r>
            <a:r>
              <a:rPr sz="1800" lang="en-US" ea="Calibri">
                <a:solidFill>
                  <a:srgbClr val="2D2D2D"/>
                </a:solidFill>
              </a:rPr>
              <a:t xml:space="preserve">$4.5M in expansion initiatives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Enterprise Customers: </a:t>
            </a:r>
            <a:r>
              <a:rPr sz="1800" lang="en-US" ea="Calibri">
                <a:solidFill>
                  <a:srgbClr val="2D2D2D"/>
                </a:solidFill>
              </a:rPr>
              <a:t xml:space="preserve">target of 80-90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Cash position expected to remain above $10M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ThankYou"/>
          <p:cNvSpPr txBox="1"/>
          <p:nvPr/>
        </p:nvSpPr>
        <p:spPr>
          <a:xfrm>
            <a:off x="685800" y="2300000"/>
            <a:ext cx="10820400" cy="8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400" lang="en-US" b="1" ea="Calibri">
                <a:solidFill>
                  <a:srgbClr val="FFFFFF"/>
                </a:solidFill>
              </a:rPr>
              <a:t xml:space="preserve">Thank You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4000000" y="32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Subtitle"/>
          <p:cNvSpPr txBox="1"/>
          <p:nvPr/>
        </p:nvSpPr>
        <p:spPr>
          <a:xfrm>
            <a:off x="685800" y="3400000"/>
            <a:ext cx="10820400" cy="6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600" lang="en-US" ea="Calibri">
                <a:solidFill>
                  <a:srgbClr val="A0C8E8"/>
                </a:solidFill>
              </a:rPr>
              <a:t xml:space="preserve">CFO Office — Acme Corp</a:t>
            </a:r>
          </a:p>
          <a:p algn="ctr">
            <a:r>
              <a:rPr sz="1600" lang="en-US" ea="Calibri">
                <a:solidFill>
                  <a:srgbClr val="A0C8E8"/>
                </a:solidFill>
              </a:rPr>
              <a:t xml:space="preserve">investors@acmecorp.com</a:t>
            </a:r>
          </a:p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Kinsey">
  <a:themeElements>
    <a:clrScheme name="McKinsey">
      <a:dk1>
        <a:srgbClr val="003A70"/>
      </a:dk1>
      <a:lt1>
        <a:srgbClr val="FFFFFF"/>
      </a:lt1>
      <a:dk2>
        <a:srgbClr val="2D2D2D"/>
      </a:dk2>
      <a:lt2>
        <a:srgbClr val="F2F2F2"/>
      </a:lt2>
      <a:accent1>
        <a:srgbClr val="003A70"/>
      </a:accent1>
      <a:accent2>
        <a:srgbClr val="5B9BD5"/>
      </a:accent2>
      <a:accent3>
        <a:srgbClr val="70AD47"/>
      </a:accent3>
      <a:accent4>
        <a:srgbClr val="FFC000"/>
      </a:accent4>
      <a:accent5>
        <a:srgbClr val="ED7D31"/>
      </a:accent5>
      <a:accent6>
        <a:srgbClr val="A5A5A5"/>
      </a:accent6>
      <a:hlink>
        <a:srgbClr val="4472C4"/>
      </a:hlink>
      <a:folHlink>
        <a:srgbClr val="954F72"/>
      </a:folHlink>
    </a:clrScheme>
  </a:themeElements>
</a:theme>
</file>