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/>
</p:presentation>
</file>

<file path=ppt/presProps.xml><?xml version="1.0" encoding="utf-8"?>
<p:presProps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>
      <p:cViewPr varScale="1"/>
    </p:cSldViewPr>
  </p:slideViewPr>
  <p:notesTextViewPr>
    <p:cViewPr/>
  </p:notesText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2" Type="http://schemas.openxmlformats.org/officeDocument/2006/relationships/theme" Target="theme/theme1.xml"/>
  <Relationship Id="rId23" Type="http://schemas.openxmlformats.org/officeDocument/2006/relationships/presProps" Target="presProps.xml"/>
  <Relationship Id="rId24" Type="http://schemas.openxmlformats.org/officeDocument/2006/relationships/tableStyles" Target="tableStyles.xml"/>
  <Relationship Id="rId25" Type="http://schemas.openxmlformats.org/officeDocument/2006/relationships/viewProps" Target="viewProps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  <Relationship Id="rId20" Type="http://schemas.openxmlformats.org/officeDocument/2006/relationships/slide" Target="slides/slide19.xml"/>
  <Relationship Id="rId21" Type="http://schemas.openxmlformats.org/officeDocument/2006/relationships/slide" Target="slides/slide20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>
    <p:spTree>
      <p:nvGrpSpPr>
        <p:cNvPr id="1" name=""/>
        <p:cNvGrpSpPr/>
        <p:nvPr/>
      </p:nvGrpSpPr>
      <p:grpSpPr/>
    </p:spTree>
  </p:cSld>
</p:sldLayout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70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AccentLine"/>
          <p:cNvSpPr>
            <a:spLocks noGrp="1"/>
          </p:cNvSpPr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685800" y="1500000"/>
            <a:ext cx="10820400" cy="3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200" lang="en-US" b="1" ea="Calibri">
                <a:solidFill>
                  <a:srgbClr val="5B9BD5"/>
                </a:solidFill>
              </a:rPr>
              <a:t xml:space="preserve">BOARD PRESENTATION</a:t>
            </a:r>
          </a:p>
        </p:txBody>
      </p:sp>
      <p:sp>
        <p:nvSpPr>
          <p:cNvPr id="4" name="MainTitle"/>
          <p:cNvSpPr txBox="1"/>
          <p:nvPr/>
        </p:nvSpPr>
        <p:spPr>
          <a:xfrm>
            <a:off x="685800" y="1900000"/>
            <a:ext cx="10820400" cy="11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4800" lang="en-US" b="1" ea="Calibri">
                <a:solidFill>
                  <a:srgbClr val="FFFFFF"/>
                </a:solidFill>
              </a:rPr>
              <a:t xml:space="preserve">Global Growth Strategy</a:t>
            </a:r>
          </a:p>
        </p:txBody>
      </p:sp>
      <p:sp>
        <p:nvSpPr>
          <p:cNvPr id="5" name="AccentLine"/>
          <p:cNvSpPr>
            <a:spLocks noGrp="1"/>
          </p:cNvSpPr>
          <p:nvPr/>
        </p:nvSpPr>
        <p:spPr>
          <a:xfrm>
            <a:off x="4000000" y="3100000"/>
            <a:ext cx="4192000" cy="3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Subtitle"/>
          <p:cNvSpPr txBox="1"/>
          <p:nvPr/>
        </p:nvSpPr>
        <p:spPr>
          <a:xfrm>
            <a:off x="685800" y="3300000"/>
            <a:ext cx="10820400" cy="9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800" lang="en-US" ea="Calibri">
                <a:solidFill>
                  <a:srgbClr val="A0C8E8"/>
                </a:solidFill>
              </a:rPr>
              <a:t xml:space="preserve">Acme Corp — FY 2026–2028 Strategic Plan</a:t>
            </a:r>
          </a:p>
          <a:p algn="ctr">
            <a:r>
              <a:rPr sz="1800" lang="en-US" ea="Calibri">
                <a:solidFill>
                  <a:srgbClr val="A0C8E8"/>
                </a:solidFill>
              </a:rPr>
              <a:t xml:space="preserve">Prepared for the Board of Directors</a:t>
            </a:r>
          </a:p>
          <a:p algn="ctr">
            <a:r>
              <a:rPr sz="1800" lang="en-US" ea="Calibri">
                <a:solidFill>
                  <a:srgbClr val="A0C8E8"/>
                </a:solidFill>
              </a:rPr>
              <a:t xml:space="preserve">May 2026</a:t>
            </a:r>
          </a:p>
        </p:txBody>
      </p:sp>
      <p:sp>
        <p:nvSpPr>
          <p:cNvPr id="7" name="AccentLine"/>
          <p:cNvSpPr>
            <a:spLocks noGrp="1"/>
          </p:cNvSpPr>
          <p:nvPr/>
        </p:nvSpPr>
        <p:spPr>
          <a:xfrm>
            <a:off x="685800" y="6578000"/>
            <a:ext cx="10820400" cy="12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8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8899AA"/>
                </a:solidFill>
              </a:rPr>
              <a:t xml:space="preserve"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AccentLine"/>
          <p:cNvSpPr>
            <a:spLocks noGrp="1"/>
          </p:cNvSpPr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3" name="AgendaTitle"/>
          <p:cNvSpPr txBox="1"/>
          <p:nvPr/>
        </p:nvSpPr>
        <p:spPr>
          <a:xfrm>
            <a:off x="685800" y="400000"/>
            <a:ext cx="10820400" cy="70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3600" lang="en-US" b="1" ea="Calibri">
                <a:solidFill>
                  <a:srgbClr val="003A70"/>
                </a:solidFill>
              </a:rPr>
              <a:t xml:space="preserve">Agenda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685800" y="1100000"/>
            <a:ext cx="10820400" cy="1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AgNum0"/>
          <p:cNvSpPr txBox="1"/>
          <p:nvPr/>
        </p:nvSpPr>
        <p:spPr>
          <a:xfrm>
            <a:off x="685800" y="1300000"/>
            <a:ext cx="5000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2200" lang="en-US" b="1" ea="Calibri">
                <a:solidFill>
                  <a:srgbClr val="5B9BD5"/>
                </a:solidFill>
              </a:rPr>
              <a:t xml:space="preserve">01</a:t>
            </a:r>
          </a:p>
        </p:txBody>
      </p:sp>
      <p:sp>
        <p:nvSpPr>
          <p:cNvPr id="6" name="AgDot0"/>
          <p:cNvSpPr txBox="1"/>
          <p:nvPr/>
        </p:nvSpPr>
        <p:spPr>
          <a:xfrm>
            <a:off x="1185800" y="1300000"/>
            <a:ext cx="3000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400" lang="en-US" ea="Calibri">
                <a:solidFill>
                  <a:srgbClr val="D0D0D0"/>
                </a:solidFill>
              </a:rPr>
              <a:t xml:space="preserve">—</a:t>
            </a:r>
          </a:p>
        </p:txBody>
      </p:sp>
      <p:sp>
        <p:nvSpPr>
          <p:cNvPr id="7" name="AgText0"/>
          <p:cNvSpPr txBox="1"/>
          <p:nvPr/>
        </p:nvSpPr>
        <p:spPr>
          <a:xfrm>
            <a:off x="1485800" y="1300000"/>
            <a:ext cx="100204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1800" lang="en-US" ea="Calibri">
                <a:solidFill>
                  <a:srgbClr val="2D2D2D"/>
                </a:solidFill>
              </a:rPr>
              <a:t xml:space="preserve">Executive Summary</a:t>
            </a:r>
          </a:p>
        </p:txBody>
      </p:sp>
      <p:sp>
        <p:nvSpPr>
          <p:cNvPr id="8" name="AccentLine"/>
          <p:cNvSpPr>
            <a:spLocks noGrp="1"/>
          </p:cNvSpPr>
          <p:nvPr/>
        </p:nvSpPr>
        <p:spPr>
          <a:xfrm>
            <a:off x="1485800" y="1991142"/>
            <a:ext cx="10020400" cy="12000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9" name="AgNum1"/>
          <p:cNvSpPr txBox="1"/>
          <p:nvPr/>
        </p:nvSpPr>
        <p:spPr>
          <a:xfrm>
            <a:off x="685800" y="2051142"/>
            <a:ext cx="5000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2200" lang="en-US" b="1" ea="Calibri">
                <a:solidFill>
                  <a:srgbClr val="5B9BD5"/>
                </a:solidFill>
              </a:rPr>
              <a:t xml:space="preserve">02</a:t>
            </a:r>
          </a:p>
        </p:txBody>
      </p:sp>
      <p:sp>
        <p:nvSpPr>
          <p:cNvPr id="10" name="AgDot1"/>
          <p:cNvSpPr txBox="1"/>
          <p:nvPr/>
        </p:nvSpPr>
        <p:spPr>
          <a:xfrm>
            <a:off x="1185800" y="2051142"/>
            <a:ext cx="3000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400" lang="en-US" ea="Calibri">
                <a:solidFill>
                  <a:srgbClr val="D0D0D0"/>
                </a:solidFill>
              </a:rPr>
              <a:t xml:space="preserve">—</a:t>
            </a:r>
          </a:p>
        </p:txBody>
      </p:sp>
      <p:sp>
        <p:nvSpPr>
          <p:cNvPr id="11" name="AgText1"/>
          <p:cNvSpPr txBox="1"/>
          <p:nvPr/>
        </p:nvSpPr>
        <p:spPr>
          <a:xfrm>
            <a:off x="1485800" y="2051142"/>
            <a:ext cx="100204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1800" lang="en-US" ea="Calibri">
                <a:solidFill>
                  <a:srgbClr val="2D2D2D"/>
                </a:solidFill>
              </a:rPr>
              <a:t xml:space="preserve">Market Landscape &amp; Opportunity</a:t>
            </a:r>
          </a:p>
        </p:txBody>
      </p:sp>
      <p:sp>
        <p:nvSpPr>
          <p:cNvPr id="12" name="AccentLine"/>
          <p:cNvSpPr>
            <a:spLocks noGrp="1"/>
          </p:cNvSpPr>
          <p:nvPr/>
        </p:nvSpPr>
        <p:spPr>
          <a:xfrm>
            <a:off x="1485800" y="2742284"/>
            <a:ext cx="10020400" cy="12000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13" name="AgNum2"/>
          <p:cNvSpPr txBox="1"/>
          <p:nvPr/>
        </p:nvSpPr>
        <p:spPr>
          <a:xfrm>
            <a:off x="685800" y="2802284"/>
            <a:ext cx="5000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2200" lang="en-US" b="1" ea="Calibri">
                <a:solidFill>
                  <a:srgbClr val="5B9BD5"/>
                </a:solidFill>
              </a:rPr>
              <a:t xml:space="preserve">03</a:t>
            </a:r>
          </a:p>
        </p:txBody>
      </p:sp>
      <p:sp>
        <p:nvSpPr>
          <p:cNvPr id="14" name="AgDot2"/>
          <p:cNvSpPr txBox="1"/>
          <p:nvPr/>
        </p:nvSpPr>
        <p:spPr>
          <a:xfrm>
            <a:off x="1185800" y="2802284"/>
            <a:ext cx="3000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400" lang="en-US" ea="Calibri">
                <a:solidFill>
                  <a:srgbClr val="D0D0D0"/>
                </a:solidFill>
              </a:rPr>
              <a:t xml:space="preserve">—</a:t>
            </a:r>
          </a:p>
        </p:txBody>
      </p:sp>
      <p:sp>
        <p:nvSpPr>
          <p:cNvPr id="15" name="AgText2"/>
          <p:cNvSpPr txBox="1"/>
          <p:nvPr/>
        </p:nvSpPr>
        <p:spPr>
          <a:xfrm>
            <a:off x="1485800" y="2802284"/>
            <a:ext cx="100204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1800" lang="en-US" ea="Calibri">
                <a:solidFill>
                  <a:srgbClr val="2D2D2D"/>
                </a:solidFill>
              </a:rPr>
              <a:t xml:space="preserve">Strategic Pillars</a:t>
            </a:r>
          </a:p>
        </p:txBody>
      </p:sp>
      <p:sp>
        <p:nvSpPr>
          <p:cNvPr id="16" name="AccentLine"/>
          <p:cNvSpPr>
            <a:spLocks noGrp="1"/>
          </p:cNvSpPr>
          <p:nvPr/>
        </p:nvSpPr>
        <p:spPr>
          <a:xfrm>
            <a:off x="1485800" y="3493426"/>
            <a:ext cx="10020400" cy="12000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17" name="AgNum3"/>
          <p:cNvSpPr txBox="1"/>
          <p:nvPr/>
        </p:nvSpPr>
        <p:spPr>
          <a:xfrm>
            <a:off x="685800" y="3553426"/>
            <a:ext cx="5000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2200" lang="en-US" b="1" ea="Calibri">
                <a:solidFill>
                  <a:srgbClr val="5B9BD5"/>
                </a:solidFill>
              </a:rPr>
              <a:t xml:space="preserve">04</a:t>
            </a:r>
          </a:p>
        </p:txBody>
      </p:sp>
      <p:sp>
        <p:nvSpPr>
          <p:cNvPr id="18" name="AgDot3"/>
          <p:cNvSpPr txBox="1"/>
          <p:nvPr/>
        </p:nvSpPr>
        <p:spPr>
          <a:xfrm>
            <a:off x="1185800" y="3553426"/>
            <a:ext cx="3000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400" lang="en-US" ea="Calibri">
                <a:solidFill>
                  <a:srgbClr val="D0D0D0"/>
                </a:solidFill>
              </a:rPr>
              <a:t xml:space="preserve">—</a:t>
            </a:r>
          </a:p>
        </p:txBody>
      </p:sp>
      <p:sp>
        <p:nvSpPr>
          <p:cNvPr id="19" name="AgText3"/>
          <p:cNvSpPr txBox="1"/>
          <p:nvPr/>
        </p:nvSpPr>
        <p:spPr>
          <a:xfrm>
            <a:off x="1485800" y="3553426"/>
            <a:ext cx="100204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1800" lang="en-US" ea="Calibri">
                <a:solidFill>
                  <a:srgbClr val="2D2D2D"/>
                </a:solidFill>
              </a:rPr>
              <a:t xml:space="preserve">Financial Projections</a:t>
            </a:r>
          </a:p>
        </p:txBody>
      </p:sp>
      <p:sp>
        <p:nvSpPr>
          <p:cNvPr id="20" name="AccentLine"/>
          <p:cNvSpPr>
            <a:spLocks noGrp="1"/>
          </p:cNvSpPr>
          <p:nvPr/>
        </p:nvSpPr>
        <p:spPr>
          <a:xfrm>
            <a:off x="1485800" y="4244568"/>
            <a:ext cx="10020400" cy="12000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21" name="AgNum4"/>
          <p:cNvSpPr txBox="1"/>
          <p:nvPr/>
        </p:nvSpPr>
        <p:spPr>
          <a:xfrm>
            <a:off x="685800" y="4304568"/>
            <a:ext cx="5000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2200" lang="en-US" b="1" ea="Calibri">
                <a:solidFill>
                  <a:srgbClr val="5B9BD5"/>
                </a:solidFill>
              </a:rPr>
              <a:t xml:space="preserve">05</a:t>
            </a:r>
          </a:p>
        </p:txBody>
      </p:sp>
      <p:sp>
        <p:nvSpPr>
          <p:cNvPr id="22" name="AgDot4"/>
          <p:cNvSpPr txBox="1"/>
          <p:nvPr/>
        </p:nvSpPr>
        <p:spPr>
          <a:xfrm>
            <a:off x="1185800" y="4304568"/>
            <a:ext cx="3000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400" lang="en-US" ea="Calibri">
                <a:solidFill>
                  <a:srgbClr val="D0D0D0"/>
                </a:solidFill>
              </a:rPr>
              <a:t xml:space="preserve">—</a:t>
            </a:r>
          </a:p>
        </p:txBody>
      </p:sp>
      <p:sp>
        <p:nvSpPr>
          <p:cNvPr id="23" name="AgText4"/>
          <p:cNvSpPr txBox="1"/>
          <p:nvPr/>
        </p:nvSpPr>
        <p:spPr>
          <a:xfrm>
            <a:off x="1485800" y="4304568"/>
            <a:ext cx="100204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1800" lang="en-US" ea="Calibri">
                <a:solidFill>
                  <a:srgbClr val="2D2D2D"/>
                </a:solidFill>
              </a:rPr>
              <a:t xml:space="preserve">Implementation Roadmap</a:t>
            </a:r>
          </a:p>
        </p:txBody>
      </p:sp>
      <p:sp>
        <p:nvSpPr>
          <p:cNvPr id="24" name="AccentLine"/>
          <p:cNvSpPr>
            <a:spLocks noGrp="1"/>
          </p:cNvSpPr>
          <p:nvPr/>
        </p:nvSpPr>
        <p:spPr>
          <a:xfrm>
            <a:off x="1485800" y="4995710"/>
            <a:ext cx="10020400" cy="12000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25" name="AgNum5"/>
          <p:cNvSpPr txBox="1"/>
          <p:nvPr/>
        </p:nvSpPr>
        <p:spPr>
          <a:xfrm>
            <a:off x="685800" y="5055710"/>
            <a:ext cx="5000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2200" lang="en-US" b="1" ea="Calibri">
                <a:solidFill>
                  <a:srgbClr val="5B9BD5"/>
                </a:solidFill>
              </a:rPr>
              <a:t xml:space="preserve">06</a:t>
            </a:r>
          </a:p>
        </p:txBody>
      </p:sp>
      <p:sp>
        <p:nvSpPr>
          <p:cNvPr id="26" name="AgDot5"/>
          <p:cNvSpPr txBox="1"/>
          <p:nvPr/>
        </p:nvSpPr>
        <p:spPr>
          <a:xfrm>
            <a:off x="1185800" y="5055710"/>
            <a:ext cx="3000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400" lang="en-US" ea="Calibri">
                <a:solidFill>
                  <a:srgbClr val="D0D0D0"/>
                </a:solidFill>
              </a:rPr>
              <a:t xml:space="preserve">—</a:t>
            </a:r>
          </a:p>
        </p:txBody>
      </p:sp>
      <p:sp>
        <p:nvSpPr>
          <p:cNvPr id="27" name="AgText5"/>
          <p:cNvSpPr txBox="1"/>
          <p:nvPr/>
        </p:nvSpPr>
        <p:spPr>
          <a:xfrm>
            <a:off x="1485800" y="5055710"/>
            <a:ext cx="100204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1800" lang="en-US" ea="Calibri">
                <a:solidFill>
                  <a:srgbClr val="2D2D2D"/>
                </a:solidFill>
              </a:rPr>
              <a:t xml:space="preserve">Risk Assessment</a:t>
            </a:r>
          </a:p>
        </p:txBody>
      </p:sp>
      <p:sp>
        <p:nvSpPr>
          <p:cNvPr id="28" name="AccentLine"/>
          <p:cNvSpPr>
            <a:spLocks noGrp="1"/>
          </p:cNvSpPr>
          <p:nvPr/>
        </p:nvSpPr>
        <p:spPr>
          <a:xfrm>
            <a:off x="1485800" y="5746852"/>
            <a:ext cx="10020400" cy="12000"/>
          </a:xfrm>
          <a:prstGeom prst="rect">
            <a:avLst/>
          </a:prstGeom>
          <a:solidFill>
            <a:srgbClr val="E8E8E8"/>
          </a:solidFill>
        </p:spPr>
        <p:txBody>
          <a:bodyPr/>
          <a:lstStyle/>
          <a:p/>
        </p:txBody>
      </p:sp>
      <p:sp>
        <p:nvSpPr>
          <p:cNvPr id="29" name="AgNum6"/>
          <p:cNvSpPr txBox="1"/>
          <p:nvPr/>
        </p:nvSpPr>
        <p:spPr>
          <a:xfrm>
            <a:off x="685800" y="5806852"/>
            <a:ext cx="5000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2200" lang="en-US" b="1" ea="Calibri">
                <a:solidFill>
                  <a:srgbClr val="5B9BD5"/>
                </a:solidFill>
              </a:rPr>
              <a:t xml:space="preserve">07</a:t>
            </a:r>
          </a:p>
        </p:txBody>
      </p:sp>
      <p:sp>
        <p:nvSpPr>
          <p:cNvPr id="30" name="AgDot6"/>
          <p:cNvSpPr txBox="1"/>
          <p:nvPr/>
        </p:nvSpPr>
        <p:spPr>
          <a:xfrm>
            <a:off x="1185800" y="5806852"/>
            <a:ext cx="3000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400" lang="en-US" ea="Calibri">
                <a:solidFill>
                  <a:srgbClr val="D0D0D0"/>
                </a:solidFill>
              </a:rPr>
              <a:t xml:space="preserve">—</a:t>
            </a:r>
          </a:p>
        </p:txBody>
      </p:sp>
      <p:sp>
        <p:nvSpPr>
          <p:cNvPr id="31" name="AgText6"/>
          <p:cNvSpPr txBox="1"/>
          <p:nvPr/>
        </p:nvSpPr>
        <p:spPr>
          <a:xfrm>
            <a:off x="1485800" y="5806852"/>
            <a:ext cx="10020400" cy="751142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1800" lang="en-US" ea="Calibri">
                <a:solidFill>
                  <a:srgbClr val="2D2D2D"/>
                </a:solidFill>
              </a:rPr>
              <a:t xml:space="preserve">Appendix</a:t>
            </a:r>
          </a:p>
        </p:txBody>
      </p:sp>
      <p:sp>
        <p:nvSpPr>
          <p:cNvPr id="32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Executive Summary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CalloutBg"/>
          <p:cNvSpPr>
            <a:spLocks noGrp="1"/>
          </p:cNvSpPr>
          <p:nvPr/>
        </p:nvSpPr>
        <p:spPr>
          <a:xfrm>
            <a:off x="759800" y="904000"/>
            <a:ext cx="10726400" cy="340000"/>
          </a:xfrm>
          <a:prstGeom prst="rect">
            <a:avLst/>
          </a:prstGeom>
          <a:solidFill>
            <a:srgbClr val="EDF4FA"/>
          </a:solidFill>
          <a:ln w="0"/>
        </p:spPr>
        <p:txBody>
          <a:bodyPr/>
          <a:lstStyle/>
          <a:p/>
        </p:txBody>
      </p:sp>
      <p:sp>
        <p:nvSpPr>
          <p:cNvPr id="7" name="AccentLine"/>
          <p:cNvSpPr>
            <a:spLocks noGrp="1"/>
          </p:cNvSpPr>
          <p:nvPr/>
        </p:nvSpPr>
        <p:spPr>
          <a:xfrm>
            <a:off x="759800" y="904000"/>
            <a:ext cx="30000" cy="34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8" name="CalloutText"/>
          <p:cNvSpPr txBox="1"/>
          <p:nvPr/>
        </p:nvSpPr>
        <p:spPr>
          <a:xfrm>
            <a:off x="859800" y="944000"/>
            <a:ext cx="10526400" cy="30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1900" lang="en-US" ea="Calibri">
                <a:solidFill>
                  <a:srgbClr val="2D2D2D"/>
                </a:solidFill>
              </a:rPr>
              <a:t xml:space="preserve">Acme Corp delivered $39.1M revenue in FY 2025 — 28% YoY growth — and is on track to reach $100M ARR by FY 2028 through three strategic pillars.</a:t>
            </a:r>
          </a:p>
        </p:txBody>
      </p:sp>
      <p:sp>
        <p:nvSpPr>
          <p:cNvPr id="9" name="BodyContent"/>
          <p:cNvSpPr>
            <a:spLocks noGrp="1"/>
          </p:cNvSpPr>
          <p:nvPr/>
        </p:nvSpPr>
        <p:spPr>
          <a:xfrm>
            <a:off x="819800" y="1344000"/>
            <a:ext cx="10606400" cy="192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Market position: </a:t>
            </a:r>
            <a:r>
              <a:rPr sz="1800" lang="en-US" ea="Calibri">
                <a:solidFill>
                  <a:srgbClr val="2D2D2D"/>
                </a:solidFill>
              </a:rPr>
              <a:t xml:space="preserve">Global document processing market projected to reach $45B by 2028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Growth strategy: </a:t>
            </a:r>
            <a:r>
              <a:rPr sz="1800" lang="en-US" ea="Calibri">
                <a:solidFill>
                  <a:srgbClr val="2D2D2D"/>
                </a:solidFill>
              </a:rPr>
              <a:t xml:space="preserve">Geographic expansion, product verticalization, platform ecosystem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Investment: </a:t>
            </a:r>
            <a:r>
              <a:rPr sz="1800" lang="en-US" ea="Calibri">
                <a:solidFill>
                  <a:srgbClr val="2D2D2D"/>
                </a:solidFill>
              </a:rPr>
              <a:t xml:space="preserve">$4.5M strategic investment expected to yield $12-15M incremental revenue within 18 months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Margins: </a:t>
            </a:r>
            <a:r>
              <a:rPr sz="1800" lang="en-US" ea="Calibri">
                <a:solidFill>
                  <a:srgbClr val="2D2D2D"/>
                </a:solidFill>
              </a:rPr>
              <a:t xml:space="preserve">Operating margins projected to improve from 22% to 40% over the planning horizon</a:t>
            </a:r>
          </a:p>
        </p:txBody>
      </p:sp>
      <p:sp>
        <p:nvSpPr>
          <p:cNvPr id="10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70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AccentLine"/>
          <p:cNvSpPr>
            <a:spLocks noGrp="1"/>
          </p:cNvSpPr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685800" y="1900000"/>
            <a:ext cx="10820400" cy="3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400" lang="en-US" b="1" ea="Calibri">
                <a:solidFill>
                  <a:srgbClr val="5B9BD5"/>
                </a:solidFill>
              </a:rPr>
              <a:t xml:space="preserve">SECTION</a:t>
            </a:r>
          </a:p>
        </p:txBody>
      </p:sp>
      <p:sp>
        <p:nvSpPr>
          <p:cNvPr id="4" name="SectionTitle"/>
          <p:cNvSpPr txBox="1"/>
          <p:nvPr/>
        </p:nvSpPr>
        <p:spPr>
          <a:xfrm>
            <a:off x="685800" y="2300000"/>
            <a:ext cx="10820400" cy="13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4000" lang="en-US" b="1" ea="Calibri">
                <a:solidFill>
                  <a:srgbClr val="FFFFFF"/>
                </a:solidFill>
              </a:rPr>
              <a:t xml:space="preserve">Market Landscape &amp; Opportunity</a:t>
            </a:r>
          </a:p>
        </p:txBody>
      </p:sp>
      <p:sp>
        <p:nvSpPr>
          <p:cNvPr id="5" name="AccentLine"/>
          <p:cNvSpPr>
            <a:spLocks noGrp="1"/>
          </p:cNvSpPr>
          <p:nvPr/>
        </p:nvSpPr>
        <p:spPr>
          <a:xfrm>
            <a:off x="4500000" y="3800000"/>
            <a:ext cx="3192000" cy="3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AccentLine"/>
          <p:cNvSpPr>
            <a:spLocks noGrp="1"/>
          </p:cNvSpPr>
          <p:nvPr/>
        </p:nvSpPr>
        <p:spPr>
          <a:xfrm>
            <a:off x="685800" y="6578000"/>
            <a:ext cx="10820400" cy="12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8899AA"/>
                </a:solidFill>
              </a:rPr>
              <a:t xml:space="preserve"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Global Market Context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200"/>
              </a:spcAft>
            </a:pPr>
            <a:r>
              <a:rPr sz="2000" lang="en-US" ea="Calibri">
                <a:solidFill>
                  <a:srgbClr val="2D2D2D"/>
                </a:solidFill>
              </a:rPr>
              <a:t xml:space="preserve">The document processing market is undergoing a structural shift.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Global market projected to reach $45B by 2028 (CAGR 12.4%)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Key growth drivers: </a:t>
            </a:r>
            <a:r>
              <a:rPr sz="1800" lang="en-US" ea="Calibri">
                <a:solidFill>
                  <a:srgbClr val="2D2D2D"/>
                </a:solidFill>
              </a:rPr>
              <a:t xml:space="preserve">digital transformation, regulatory compliance, AI adoption, hybrid work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Legacy vendors (Aspose, Adobe) slow to innovate with cloud-native solutions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Open-source alternatives require significant engineering investment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Acme Corp's TAM: </a:t>
            </a:r>
            <a:r>
              <a:rPr sz="1800" lang="en-US" ea="Calibri">
                <a:solidFill>
                  <a:srgbClr val="2D2D2D"/>
                </a:solidFill>
              </a:rPr>
              <a:t xml:space="preserve">$8.5B in enterprise AI document processing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Competitive Positioning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Speed advantage: </a:t>
            </a:r>
            <a:r>
              <a:rPr sz="1800" lang="en-US" ea="Calibri">
                <a:solidFill>
                  <a:srgbClr val="2D2D2D"/>
                </a:solidFill>
              </a:rPr>
              <a:t xml:space="preserve">100-500x faster than Python-based solutions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Local-first architecture: </a:t>
            </a:r>
            <a:r>
              <a:rPr sz="1800" lang="en-US" ea="Calibri">
                <a:solidFill>
                  <a:srgbClr val="2D2D2D"/>
                </a:solidFill>
              </a:rPr>
              <a:t xml:space="preserve">zero dependency on cloud infrastructure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Open-source licensing: </a:t>
            </a:r>
            <a:r>
              <a:rPr sz="1800" lang="en-US" ea="Calibri">
                <a:solidFill>
                  <a:srgbClr val="2D2D2D"/>
                </a:solidFill>
              </a:rPr>
              <a:t xml:space="preserve">removes procurement barriers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4MB binary vs 150MB+ for Python-based alternatives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Sub-50ms cold start vs 1-5s for Python VM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Cross-platform: </a:t>
            </a:r>
            <a:r>
              <a:rPr sz="1800" lang="en-US" ea="Calibri">
                <a:solidFill>
                  <a:srgbClr val="2D2D2D"/>
                </a:solidFill>
              </a:rPr>
              <a:t xml:space="preserve">Linux, macOS, Windows — single binary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70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AccentLine"/>
          <p:cNvSpPr>
            <a:spLocks noGrp="1"/>
          </p:cNvSpPr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685800" y="1900000"/>
            <a:ext cx="10820400" cy="3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400" lang="en-US" b="1" ea="Calibri">
                <a:solidFill>
                  <a:srgbClr val="5B9BD5"/>
                </a:solidFill>
              </a:rPr>
              <a:t xml:space="preserve">SECTION</a:t>
            </a:r>
          </a:p>
        </p:txBody>
      </p:sp>
      <p:sp>
        <p:nvSpPr>
          <p:cNvPr id="4" name="SectionTitle"/>
          <p:cNvSpPr txBox="1"/>
          <p:nvPr/>
        </p:nvSpPr>
        <p:spPr>
          <a:xfrm>
            <a:off x="685800" y="2300000"/>
            <a:ext cx="10820400" cy="13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4000" lang="en-US" b="1" ea="Calibri">
                <a:solidFill>
                  <a:srgbClr val="FFFFFF"/>
                </a:solidFill>
              </a:rPr>
              <a:t xml:space="preserve">Strategic Pillars</a:t>
            </a:r>
          </a:p>
        </p:txBody>
      </p:sp>
      <p:sp>
        <p:nvSpPr>
          <p:cNvPr id="5" name="AccentLine"/>
          <p:cNvSpPr>
            <a:spLocks noGrp="1"/>
          </p:cNvSpPr>
          <p:nvPr/>
        </p:nvSpPr>
        <p:spPr>
          <a:xfrm>
            <a:off x="4500000" y="3800000"/>
            <a:ext cx="3192000" cy="3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AccentLine"/>
          <p:cNvSpPr>
            <a:spLocks noGrp="1"/>
          </p:cNvSpPr>
          <p:nvPr/>
        </p:nvSpPr>
        <p:spPr>
          <a:xfrm>
            <a:off x="685800" y="6578000"/>
            <a:ext cx="10820400" cy="12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8899AA"/>
                </a:solidFill>
              </a:rPr>
              <a:t xml:space="preserve"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Pillar 1: Geographic Expansion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34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North America: </a:t>
            </a:r>
            <a:r>
              <a:rPr sz="1800" lang="en-US" ea="Calibri">
                <a:solidFill>
                  <a:srgbClr val="2D2D2D"/>
                </a:solidFill>
              </a:rPr>
              <a:t xml:space="preserve">62% of FY 2025 revenue — maintain and deepen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Europe: </a:t>
            </a:r>
            <a:r>
              <a:rPr sz="1800" lang="en-US" ea="Calibri">
                <a:solidFill>
                  <a:srgbClr val="2D2D2D"/>
                </a:solidFill>
              </a:rPr>
              <a:t xml:space="preserve">23% growth driven by GDPR compliance requirements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APAC: </a:t>
            </a:r>
            <a:r>
              <a:rPr sz="1800" lang="en-US" ea="Calibri">
                <a:solidFill>
                  <a:srgbClr val="2D2D2D"/>
                </a:solidFill>
              </a:rPr>
              <a:t xml:space="preserve">Highest growth trajectory at 47% YoY — prioritize investment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LATAM &amp; MEA: </a:t>
            </a:r>
            <a:r>
              <a:rPr sz="1800" lang="en-US" ea="Calibri">
                <a:solidFill>
                  <a:srgbClr val="2D2D2D"/>
                </a:solidFill>
              </a:rPr>
              <a:t xml:space="preserve">Untapped $1.2B addressable market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Entry strategy: </a:t>
            </a:r>
            <a:r>
              <a:rPr sz="1800" lang="en-US" ea="Calibri">
                <a:solidFill>
                  <a:srgbClr val="2D2D2D"/>
                </a:solidFill>
              </a:rPr>
              <a:t xml:space="preserve">phased rollout starting with Germany and Japan by Q2 2026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Pillar 2: Product Verticalization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34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Compliance automation suite: </a:t>
            </a:r>
            <a:r>
              <a:rPr sz="1800" lang="en-US" ea="Calibri">
                <a:solidFill>
                  <a:srgbClr val="2D2D2D"/>
                </a:solidFill>
              </a:rPr>
              <a:t xml:space="preserve">targeting financial services and healthcare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Enterprise SDK: </a:t>
            </a:r>
            <a:r>
              <a:rPr sz="1800" lang="en-US" ea="Calibri">
                <a:solidFill>
                  <a:srgbClr val="2D2D2D"/>
                </a:solidFill>
              </a:rPr>
              <a:t xml:space="preserve">embeddable document engine for ISVs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Skills marketplace: </a:t>
            </a:r>
            <a:r>
              <a:rPr sz="1800" lang="en-US" ea="Calibri">
                <a:solidFill>
                  <a:srgbClr val="2D2D2D"/>
                </a:solidFill>
              </a:rPr>
              <a:t xml:space="preserve">50 community-contributed skills by Q4 2026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AI document intelligence: </a:t>
            </a:r>
            <a:r>
              <a:rPr sz="1800" lang="en-US" ea="Calibri">
                <a:solidFill>
                  <a:srgbClr val="2D2D2D"/>
                </a:solidFill>
              </a:rPr>
              <a:t xml:space="preserve">classification, extraction, generation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Each vertical represents $50-200M incremental TAM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Pillar 3: Platform Ecosystem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34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Partner network: </a:t>
            </a:r>
            <a:r>
              <a:rPr sz="1800" lang="en-US" ea="Calibri">
                <a:solidFill>
                  <a:srgbClr val="2D2D2D"/>
                </a:solidFill>
              </a:rPr>
              <a:t xml:space="preserve">12 regional system integrators and 3 cloud platform providers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Developer community: </a:t>
            </a:r>
            <a:r>
              <a:rPr sz="1800" lang="en-US" ea="Calibri">
                <a:solidFill>
                  <a:srgbClr val="2D2D2D"/>
                </a:solidFill>
              </a:rPr>
              <a:t xml:space="preserve">docs-first approach, contribution framework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MCP directory listings: </a:t>
            </a:r>
            <a:r>
              <a:rPr sz="1800" lang="en-US" ea="Calibri">
                <a:solidFill>
                  <a:srgbClr val="2D2D2D"/>
                </a:solidFill>
              </a:rPr>
              <a:t xml:space="preserve">20+ directories for distribution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Viral loops: </a:t>
            </a:r>
            <a:r>
              <a:rPr sz="1800" lang="en-US" ea="Calibri">
                <a:solidFill>
                  <a:srgbClr val="2D2D2D"/>
                </a:solidFill>
              </a:rPr>
              <a:t xml:space="preserve">open-source → community → enterprise adoption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Marketplace: </a:t>
            </a:r>
            <a:r>
              <a:rPr sz="1800" lang="en-US" ea="Calibri">
                <a:solidFill>
                  <a:srgbClr val="2D2D2D"/>
                </a:solidFill>
              </a:rPr>
              <a:t xml:space="preserve">skills, templates, integrations ecosystem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70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AccentLine"/>
          <p:cNvSpPr>
            <a:spLocks noGrp="1"/>
          </p:cNvSpPr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685800" y="1900000"/>
            <a:ext cx="10820400" cy="3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400" lang="en-US" b="1" ea="Calibri">
                <a:solidFill>
                  <a:srgbClr val="5B9BD5"/>
                </a:solidFill>
              </a:rPr>
              <a:t xml:space="preserve">SECTION</a:t>
            </a:r>
          </a:p>
        </p:txBody>
      </p:sp>
      <p:sp>
        <p:nvSpPr>
          <p:cNvPr id="4" name="SectionTitle"/>
          <p:cNvSpPr txBox="1"/>
          <p:nvPr/>
        </p:nvSpPr>
        <p:spPr>
          <a:xfrm>
            <a:off x="685800" y="2300000"/>
            <a:ext cx="10820400" cy="13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4000" lang="en-US" b="1" ea="Calibri">
                <a:solidFill>
                  <a:srgbClr val="FFFFFF"/>
                </a:solidFill>
              </a:rPr>
              <a:t xml:space="preserve">Financial Projections</a:t>
            </a:r>
          </a:p>
        </p:txBody>
      </p:sp>
      <p:sp>
        <p:nvSpPr>
          <p:cNvPr id="5" name="AccentLine"/>
          <p:cNvSpPr>
            <a:spLocks noGrp="1"/>
          </p:cNvSpPr>
          <p:nvPr/>
        </p:nvSpPr>
        <p:spPr>
          <a:xfrm>
            <a:off x="4500000" y="3800000"/>
            <a:ext cx="3192000" cy="3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AccentLine"/>
          <p:cNvSpPr>
            <a:spLocks noGrp="1"/>
          </p:cNvSpPr>
          <p:nvPr/>
        </p:nvSpPr>
        <p:spPr>
          <a:xfrm>
            <a:off x="685800" y="6578000"/>
            <a:ext cx="10820400" cy="12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8899AA"/>
                </a:solidFill>
              </a:rPr>
              <a:t xml:space="preserve"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Revenue Model &amp; Projections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CalloutBg"/>
          <p:cNvSpPr>
            <a:spLocks noGrp="1"/>
          </p:cNvSpPr>
          <p:nvPr/>
        </p:nvSpPr>
        <p:spPr>
          <a:xfrm>
            <a:off x="759800" y="904000"/>
            <a:ext cx="10726400" cy="340000"/>
          </a:xfrm>
          <a:prstGeom prst="rect">
            <a:avLst/>
          </a:prstGeom>
          <a:solidFill>
            <a:srgbClr val="EDF4FA"/>
          </a:solidFill>
          <a:ln w="0"/>
        </p:spPr>
        <p:txBody>
          <a:bodyPr/>
          <a:lstStyle/>
          <a:p/>
        </p:txBody>
      </p:sp>
      <p:sp>
        <p:nvSpPr>
          <p:cNvPr id="7" name="AccentLine"/>
          <p:cNvSpPr>
            <a:spLocks noGrp="1"/>
          </p:cNvSpPr>
          <p:nvPr/>
        </p:nvSpPr>
        <p:spPr>
          <a:xfrm>
            <a:off x="759800" y="904000"/>
            <a:ext cx="30000" cy="34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8" name="CalloutText"/>
          <p:cNvSpPr txBox="1"/>
          <p:nvPr/>
        </p:nvSpPr>
        <p:spPr>
          <a:xfrm>
            <a:off x="859800" y="944000"/>
            <a:ext cx="10526400" cy="30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1900" lang="en-US" ea="Calibri">
                <a:solidFill>
                  <a:srgbClr val="2D2D2D"/>
                </a:solidFill>
              </a:rPr>
              <a:t xml:space="preserve">Path to $100M ARR: FY 2026E $48-52M → FY 2027E $65-72M → FY 2028E $90-105M at 25-30% CAGR</a:t>
            </a:r>
          </a:p>
        </p:txBody>
      </p:sp>
      <p:sp>
        <p:nvSpPr>
          <p:cNvPr id="9" name="BodyContent"/>
          <p:cNvSpPr>
            <a:spLocks noGrp="1"/>
          </p:cNvSpPr>
          <p:nvPr/>
        </p:nvSpPr>
        <p:spPr>
          <a:xfrm>
            <a:off x="819800" y="1344000"/>
            <a:ext cx="10606400" cy="234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Gross margin improvement: </a:t>
            </a:r>
            <a:r>
              <a:rPr sz="1800" lang="en-US" ea="Calibri">
                <a:solidFill>
                  <a:srgbClr val="2D2D2D"/>
                </a:solidFill>
              </a:rPr>
              <a:t xml:space="preserve">60% → 65% through operational efficiencies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Operating expenses: </a:t>
            </a:r>
            <a:r>
              <a:rPr sz="1800" lang="en-US" ea="Calibri">
                <a:solidFill>
                  <a:srgbClr val="2D2D2D"/>
                </a:solidFill>
              </a:rPr>
              <a:t xml:space="preserve">$14-16M including $4.5M strategic investment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Net income target: </a:t>
            </a:r>
            <a:r>
              <a:rPr sz="1800" lang="en-US" ea="Calibri">
                <a:solidFill>
                  <a:srgbClr val="2D2D2D"/>
                </a:solidFill>
              </a:rPr>
              <a:t xml:space="preserve">$12-15M in FY 2026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Operating margins: </a:t>
            </a:r>
            <a:r>
              <a:rPr sz="1800" lang="en-US" ea="Calibri">
                <a:solidFill>
                  <a:srgbClr val="2D2D2D"/>
                </a:solidFill>
              </a:rPr>
              <a:t xml:space="preserve">26-28% in FY 2026, expanding to 40% by FY 2028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Cash position: </a:t>
            </a:r>
            <a:r>
              <a:rPr sz="1800" lang="en-US" ea="Calibri">
                <a:solidFill>
                  <a:srgbClr val="2D2D2D"/>
                </a:solidFill>
              </a:rPr>
              <a:t xml:space="preserve">Expected to remain above $10M throughout planning horizon</a:t>
            </a:r>
          </a:p>
        </p:txBody>
      </p:sp>
      <p:sp>
        <p:nvSpPr>
          <p:cNvPr id="10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Investment Requirements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Geographic expansion: </a:t>
            </a:r>
            <a:r>
              <a:rPr sz="1800" lang="en-US" ea="Calibri">
                <a:solidFill>
                  <a:srgbClr val="2D2D2D"/>
                </a:solidFill>
              </a:rPr>
              <a:t xml:space="preserve">$1.8M (sales teams, local infrastructure)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Product development: </a:t>
            </a:r>
            <a:r>
              <a:rPr sz="1800" lang="en-US" ea="Calibri">
                <a:solidFill>
                  <a:srgbClr val="2D2D2D"/>
                </a:solidFill>
              </a:rPr>
              <a:t xml:space="preserve">$1.2M (compliance suite, SDK, AI features)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Ecosystem &amp; community: </a:t>
            </a:r>
            <a:r>
              <a:rPr sz="1800" lang="en-US" ea="Calibri">
                <a:solidFill>
                  <a:srgbClr val="2D2D2D"/>
                </a:solidFill>
              </a:rPr>
              <a:t xml:space="preserve">$0.8M (developer relations, marketplace)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Marketing &amp; sales: </a:t>
            </a:r>
            <a:r>
              <a:rPr sz="1800" lang="en-US" ea="Calibri">
                <a:solidFill>
                  <a:srgbClr val="2D2D2D"/>
                </a:solidFill>
              </a:rPr>
              <a:t xml:space="preserve">$0.7M (demand generation, content, events)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Total strategic investment: </a:t>
            </a:r>
            <a:r>
              <a:rPr sz="1800" lang="en-US" ea="Calibri">
                <a:solidFill>
                  <a:srgbClr val="2D2D2D"/>
                </a:solidFill>
              </a:rPr>
              <a:t xml:space="preserve">$4.5M over 18 months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Expected ROI: </a:t>
            </a:r>
            <a:r>
              <a:rPr sz="1800" lang="en-US" ea="Calibri">
                <a:solidFill>
                  <a:srgbClr val="2D2D2D"/>
                </a:solidFill>
              </a:rPr>
              <a:t xml:space="preserve">$12-15M incremental revenue within 18 months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70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AccentLine"/>
          <p:cNvSpPr>
            <a:spLocks noGrp="1"/>
          </p:cNvSpPr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685800" y="1900000"/>
            <a:ext cx="10820400" cy="3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400" lang="en-US" b="1" ea="Calibri">
                <a:solidFill>
                  <a:srgbClr val="5B9BD5"/>
                </a:solidFill>
              </a:rPr>
              <a:t xml:space="preserve">SECTION</a:t>
            </a:r>
          </a:p>
        </p:txBody>
      </p:sp>
      <p:sp>
        <p:nvSpPr>
          <p:cNvPr id="4" name="SectionTitle"/>
          <p:cNvSpPr txBox="1"/>
          <p:nvPr/>
        </p:nvSpPr>
        <p:spPr>
          <a:xfrm>
            <a:off x="685800" y="2300000"/>
            <a:ext cx="10820400" cy="13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4000" lang="en-US" b="1" ea="Calibri">
                <a:solidFill>
                  <a:srgbClr val="FFFFFF"/>
                </a:solidFill>
              </a:rPr>
              <a:t xml:space="preserve">Implementation Roadmap</a:t>
            </a:r>
          </a:p>
        </p:txBody>
      </p:sp>
      <p:sp>
        <p:nvSpPr>
          <p:cNvPr id="5" name="AccentLine"/>
          <p:cNvSpPr>
            <a:spLocks noGrp="1"/>
          </p:cNvSpPr>
          <p:nvPr/>
        </p:nvSpPr>
        <p:spPr>
          <a:xfrm>
            <a:off x="4500000" y="3800000"/>
            <a:ext cx="3192000" cy="3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AccentLine"/>
          <p:cNvSpPr>
            <a:spLocks noGrp="1"/>
          </p:cNvSpPr>
          <p:nvPr/>
        </p:nvSpPr>
        <p:spPr>
          <a:xfrm>
            <a:off x="685800" y="6578000"/>
            <a:ext cx="10820400" cy="12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8899AA"/>
                </a:solidFill>
              </a:rPr>
              <a:t xml:space="preserve"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Phase 1: Foundation (Q1–Q2 2026)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Market research completion and partnership framework definition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Initial hires: </a:t>
            </a:r>
            <a:r>
              <a:rPr sz="1800" lang="en-US" ea="Calibri">
                <a:solidFill>
                  <a:srgbClr val="2D2D2D"/>
                </a:solidFill>
              </a:rPr>
              <a:t xml:space="preserve">Regional Sales Directors (3), Solutions Engineers (4)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German market entry preparation — local entity setup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Compliance module beta with 3 design partners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5 system integrator partnerships secured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Community milestone: </a:t>
            </a:r>
            <a:r>
              <a:rPr sz="1800" lang="en-US" ea="Calibri">
                <a:solidFill>
                  <a:srgbClr val="2D2D2D"/>
                </a:solidFill>
              </a:rPr>
              <a:t xml:space="preserve">50 GitHub stars, 10 skills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Phase 2: Acceleration (Q3–Q4 2026)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Full compliance automation launch at industry conferences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Japanese market entry with local partner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Expand to 12 total system integrator partners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Skills marketplace launch with 30 community skills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Enterprise customer growth: </a:t>
            </a:r>
            <a:r>
              <a:rPr sz="1800" lang="en-US" ea="Calibri">
                <a:solidFill>
                  <a:srgbClr val="2D2D2D"/>
                </a:solidFill>
              </a:rPr>
              <a:t xml:space="preserve">47 → 80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Revenue target: </a:t>
            </a:r>
            <a:r>
              <a:rPr sz="1800" lang="en-US" ea="Calibri">
                <a:solidFill>
                  <a:srgbClr val="2D2D2D"/>
                </a:solidFill>
              </a:rPr>
              <a:t xml:space="preserve">$13-15M in Q4 2026 alone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Phase 3: Scale (FY 2027–2028)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3 additional region entries (Brazil, UAE, Singapore)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AI document intelligence product launch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Partner-generated revenue target: </a:t>
            </a:r>
            <a:r>
              <a:rPr sz="1800" lang="en-US" ea="Calibri">
                <a:solidFill>
                  <a:srgbClr val="2D2D2D"/>
                </a:solidFill>
              </a:rPr>
              <a:t xml:space="preserve">$4M annually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Community: </a:t>
            </a:r>
            <a:r>
              <a:rPr sz="1800" lang="en-US" ea="Calibri">
                <a:solidFill>
                  <a:srgbClr val="2D2D2D"/>
                </a:solidFill>
              </a:rPr>
              <a:t xml:space="preserve">200 GitHub stars, 50+ skills, 500+ developers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Enterprise customers: </a:t>
            </a:r>
            <a:r>
              <a:rPr sz="1800" lang="en-US" ea="Calibri">
                <a:solidFill>
                  <a:srgbClr val="2D2D2D"/>
                </a:solidFill>
              </a:rPr>
              <a:t xml:space="preserve">120+ with $100K+ ACV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ea="Calibri">
                <a:solidFill>
                  <a:srgbClr val="2D2D2D"/>
                </a:solidFill>
              </a:rPr>
              <a:t xml:space="preserve">Path to profitability with 40% operating margins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70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AccentLine"/>
          <p:cNvSpPr>
            <a:spLocks noGrp="1"/>
          </p:cNvSpPr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3" name="SectionLabel"/>
          <p:cNvSpPr txBox="1"/>
          <p:nvPr/>
        </p:nvSpPr>
        <p:spPr>
          <a:xfrm>
            <a:off x="685800" y="1900000"/>
            <a:ext cx="10820400" cy="3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400" lang="en-US" b="1" ea="Calibri">
                <a:solidFill>
                  <a:srgbClr val="5B9BD5"/>
                </a:solidFill>
              </a:rPr>
              <a:t xml:space="preserve">SECTION</a:t>
            </a:r>
          </a:p>
        </p:txBody>
      </p:sp>
      <p:sp>
        <p:nvSpPr>
          <p:cNvPr id="4" name="SectionTitle"/>
          <p:cNvSpPr txBox="1"/>
          <p:nvPr/>
        </p:nvSpPr>
        <p:spPr>
          <a:xfrm>
            <a:off x="685800" y="2300000"/>
            <a:ext cx="10820400" cy="13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4000" lang="en-US" b="1" ea="Calibri">
                <a:solidFill>
                  <a:srgbClr val="FFFFFF"/>
                </a:solidFill>
              </a:rPr>
              <a:t xml:space="preserve">Risk Assessment</a:t>
            </a:r>
          </a:p>
        </p:txBody>
      </p:sp>
      <p:sp>
        <p:nvSpPr>
          <p:cNvPr id="5" name="AccentLine"/>
          <p:cNvSpPr>
            <a:spLocks noGrp="1"/>
          </p:cNvSpPr>
          <p:nvPr/>
        </p:nvSpPr>
        <p:spPr>
          <a:xfrm>
            <a:off x="4500000" y="3800000"/>
            <a:ext cx="3192000" cy="3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AccentLine"/>
          <p:cNvSpPr>
            <a:spLocks noGrp="1"/>
          </p:cNvSpPr>
          <p:nvPr/>
        </p:nvSpPr>
        <p:spPr>
          <a:xfrm>
            <a:off x="685800" y="6578000"/>
            <a:ext cx="10820400" cy="12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8899AA"/>
                </a:solidFill>
              </a:rPr>
              <a:t xml:space="preserve"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HeaderBar"/>
          <p:cNvSpPr>
            <a:spLocks noGrp="1"/>
          </p:cNvSpPr>
          <p:nvPr/>
        </p:nvSpPr>
        <p:spPr>
          <a:xfrm>
            <a:off x="0" y="0"/>
            <a:ext cx="12192000" cy="760000"/>
          </a:xfrm>
          <a:prstGeom prst="rect">
            <a:avLst/>
          </a:prstGeom>
          <a:solidFill>
            <a:srgbClr val="003A70"/>
          </a:solidFill>
        </p:spPr>
        <p:txBody>
          <a:bodyPr/>
          <a:lstStyle/>
          <a:p/>
        </p:txBody>
      </p:sp>
      <p:sp>
        <p:nvSpPr>
          <p:cNvPr id="3" name="TitleOnBar"/>
          <p:cNvSpPr txBox="1"/>
          <p:nvPr/>
        </p:nvSpPr>
        <p:spPr>
          <a:xfrm>
            <a:off x="685800" y="120000"/>
            <a:ext cx="10820400" cy="520000"/>
          </a:xfrm>
          <a:prstGeom prst="rect">
            <a:avLst/>
          </a:prstGeom>
        </p:spPr>
        <p:txBody>
          <a:bodyPr wrap="none" lIns="91440" tIns="45720" rIns="91440" bIns="45720"/>
          <a:lstStyle/>
          <a:p>
            <a:r>
              <a:rPr sz="2200" lang="en-US" b="1" ea="Calibri">
                <a:solidFill>
                  <a:srgbClr val="FFFFFF"/>
                </a:solidFill>
              </a:rPr>
              <a:t xml:space="preserve">Key Risks &amp; Mitigation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0" y="760000"/>
            <a:ext cx="12192000" cy="24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VAccent"/>
          <p:cNvSpPr>
            <a:spLocks noGrp="1"/>
          </p:cNvSpPr>
          <p:nvPr/>
        </p:nvSpPr>
        <p:spPr>
          <a:xfrm>
            <a:off x="0" y="760000"/>
            <a:ext cx="54000" cy="6098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6" name="BodyContent"/>
          <p:cNvSpPr>
            <a:spLocks noGrp="1"/>
          </p:cNvSpPr>
          <p:nvPr/>
        </p:nvSpPr>
        <p:spPr>
          <a:xfrm>
            <a:off x="819800" y="944000"/>
            <a:ext cx="10606400" cy="2760000"/>
          </a:xfrm>
        </p:spPr>
        <p:txBody>
          <a:bodyPr wrap="none" lIns="0" tIns="0" rIns="0" bIns="0"/>
          <a:lstStyle/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Market entry execution: </a:t>
            </a:r>
            <a:r>
              <a:rPr sz="1800" lang="en-US" ea="Calibri">
                <a:solidFill>
                  <a:srgbClr val="2D2D2D"/>
                </a:solidFill>
              </a:rPr>
              <a:t xml:space="preserve">phased rollout with pilot programs and go/no-go gates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Talent acquisition: </a:t>
            </a:r>
            <a:r>
              <a:rPr sz="1800" lang="en-US" ea="Calibri">
                <a:solidFill>
                  <a:srgbClr val="2D2D2D"/>
                </a:solidFill>
              </a:rPr>
              <a:t xml:space="preserve">competitive compensation, remote-first policy, global hiring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Competitive response: </a:t>
            </a:r>
            <a:r>
              <a:rPr sz="1800" lang="en-US" ea="Calibri">
                <a:solidFill>
                  <a:srgbClr val="2D2D2D"/>
                </a:solidFill>
              </a:rPr>
              <a:t xml:space="preserve">speed-to-market advantage, open-source community moat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Currency and regulatory risk: </a:t>
            </a:r>
            <a:r>
              <a:rPr sz="1800" lang="en-US" ea="Calibri">
                <a:solidFill>
                  <a:srgbClr val="2D2D2D"/>
                </a:solidFill>
              </a:rPr>
              <a:t xml:space="preserve">local partnerships, compliance-first design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Technology risk: </a:t>
            </a:r>
            <a:r>
              <a:rPr sz="1800" lang="en-US" ea="Calibri">
                <a:solidFill>
                  <a:srgbClr val="2D2D2D"/>
                </a:solidFill>
              </a:rPr>
              <a:t xml:space="preserve">continuous R&amp;D investment, performance benchmarking</a:t>
            </a:r>
          </a:p>
          <a:p>
            <a:pPr>
              <a:spcAft>
                <a:spcPts val="160"/>
              </a:spcAft>
              <a:buChar char="▪" sz="85000"/>
              <a:ind left="320000" hanging="320000"/>
            </a:pPr>
            <a:r>
              <a:rPr sz="1800" lang="en-US" b="1" ea="Calibri">
                <a:solidFill>
                  <a:srgbClr val="2D2D2D"/>
                </a:solidFill>
              </a:rPr>
              <a:t xml:space="preserve">Concentration risk: </a:t>
            </a:r>
            <a:r>
              <a:rPr sz="1800" lang="en-US" ea="Calibri">
                <a:solidFill>
                  <a:srgbClr val="2D2D2D"/>
                </a:solidFill>
              </a:rPr>
              <a:t xml:space="preserve">diversify revenue across regions and verticals</a:t>
            </a:r>
          </a:p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999999"/>
                </a:solidFill>
              </a:rPr>
              <a:t xml:space="preserve"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3A70"/>
        </a:solidFill>
        <a:effectDag/>
      </p:bgPr>
    </p:bg>
    <p:spTree>
      <p:nvGrpSpPr>
        <p:cNvPr id="1" name=""/>
        <p:cNvGrpSpPr/>
        <p:nvPr/>
      </p:nvGrpSpPr>
      <p:grpSpPr/>
      <p:sp>
        <p:nvSpPr>
          <p:cNvPr id="2" name="AccentLine"/>
          <p:cNvSpPr>
            <a:spLocks noGrp="1"/>
          </p:cNvSpPr>
          <p:nvPr/>
        </p:nvSpPr>
        <p:spPr>
          <a:xfrm>
            <a:off x="0" y="0"/>
            <a:ext cx="12192000" cy="36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3" name="ThankYou"/>
          <p:cNvSpPr txBox="1"/>
          <p:nvPr/>
        </p:nvSpPr>
        <p:spPr>
          <a:xfrm>
            <a:off x="685800" y="2300000"/>
            <a:ext cx="10820400" cy="8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4400" lang="en-US" b="1" ea="Calibri">
                <a:solidFill>
                  <a:srgbClr val="FFFFFF"/>
                </a:solidFill>
              </a:rPr>
              <a:t xml:space="preserve">Thank You</a:t>
            </a:r>
          </a:p>
        </p:txBody>
      </p:sp>
      <p:sp>
        <p:nvSpPr>
          <p:cNvPr id="4" name="AccentLine"/>
          <p:cNvSpPr>
            <a:spLocks noGrp="1"/>
          </p:cNvSpPr>
          <p:nvPr/>
        </p:nvSpPr>
        <p:spPr>
          <a:xfrm>
            <a:off x="4000000" y="3200000"/>
            <a:ext cx="4192000" cy="30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5" name="Subtitle"/>
          <p:cNvSpPr txBox="1"/>
          <p:nvPr/>
        </p:nvSpPr>
        <p:spPr>
          <a:xfrm>
            <a:off x="685800" y="3400000"/>
            <a:ext cx="10820400" cy="600000"/>
          </a:xfrm>
          <a:prstGeom prst="rect">
            <a:avLst/>
          </a:prstGeom>
        </p:spPr>
        <p:txBody>
          <a:bodyPr wrap="none" lIns="91440" tIns="45720" rIns="91440" bIns="45720"/>
          <a:lstStyle/>
          <a:p algn="ctr">
            <a:r>
              <a:rPr sz="1600" lang="en-US" ea="Calibri">
                <a:solidFill>
                  <a:srgbClr val="A0C8E8"/>
                </a:solidFill>
              </a:rPr>
              <a:t xml:space="preserve">Questions &amp; Discussion</a:t>
            </a:r>
          </a:p>
          <a:p algn="ctr">
            <a:r>
              <a:rPr sz="1600" lang="en-US" ea="Calibri">
                <a:solidFill>
                  <a:srgbClr val="A0C8E8"/>
                </a:solidFill>
              </a:rPr>
              <a:t xml:space="preserve">strategy@acmecorp.com</a:t>
            </a:r>
          </a:p>
        </p:txBody>
      </p:sp>
      <p:sp>
        <p:nvSpPr>
          <p:cNvPr id="6" name="AccentLine"/>
          <p:cNvSpPr>
            <a:spLocks noGrp="1"/>
          </p:cNvSpPr>
          <p:nvPr/>
        </p:nvSpPr>
        <p:spPr>
          <a:xfrm>
            <a:off x="685800" y="6578000"/>
            <a:ext cx="10820400" cy="12000"/>
          </a:xfrm>
          <a:prstGeom prst="rect">
            <a:avLst/>
          </a:prstGeom>
          <a:solidFill>
            <a:srgbClr val="5B9BD5"/>
          </a:solidFill>
        </p:spPr>
        <p:txBody>
          <a:bodyPr/>
          <a:lstStyle/>
          <a:p/>
        </p:txBody>
      </p:sp>
      <p:sp>
        <p:nvSpPr>
          <p:cNvPr id="7" name="SlideNumber"/>
          <p:cNvSpPr txBox="1"/>
          <p:nvPr/>
        </p:nvSpPr>
        <p:spPr>
          <a:xfrm>
            <a:off x="11006200" y="6538000"/>
            <a:ext cx="500000" cy="220000"/>
          </a:xfrm>
          <a:prstGeom prst="rect">
            <a:avLst/>
          </a:prstGeom>
        </p:spPr>
        <p:txBody>
          <a:bodyPr wrap="none" lIns="91440" tIns="45720" rIns="91440" bIns="45720"/>
          <a:lstStyle/>
          <a:p algn="r">
            <a:r>
              <a:rPr sz="1000" lang="en-US" ea="Calibri">
                <a:solidFill>
                  <a:srgbClr val="8899AA"/>
                </a:solidFill>
              </a:rPr>
              <a:t xml:space="preserve"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cKinsey">
  <a:themeElements>
    <a:clrScheme name="McKinsey">
      <a:dk1>
        <a:srgbClr val="003A70"/>
      </a:dk1>
      <a:lt1>
        <a:srgbClr val="FFFFFF"/>
      </a:lt1>
      <a:dk2>
        <a:srgbClr val="2D2D2D"/>
      </a:dk2>
      <a:lt2>
        <a:srgbClr val="F2F2F2"/>
      </a:lt2>
      <a:accent1>
        <a:srgbClr val="003A70"/>
      </a:accent1>
      <a:accent2>
        <a:srgbClr val="5B9BD5"/>
      </a:accent2>
      <a:accent3>
        <a:srgbClr val="70AD47"/>
      </a:accent3>
      <a:accent4>
        <a:srgbClr val="FFC000"/>
      </a:accent4>
      <a:accent5>
        <a:srgbClr val="ED7D31"/>
      </a:accent5>
      <a:accent6>
        <a:srgbClr val="A5A5A5"/>
      </a:accent6>
      <a:hlink>
        <a:srgbClr val="4472C4"/>
      </a:hlink>
      <a:folHlink>
        <a:srgbClr val="954F72"/>
      </a:folHlink>
    </a:clrScheme>
  </a:themeElements>
</a:theme>
</file>