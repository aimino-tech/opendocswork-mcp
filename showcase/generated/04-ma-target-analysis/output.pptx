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/>
</p:presentation>
</file>

<file path=ppt/presProps.xml><?xml version="1.0" encoding="utf-8"?>
<p:presProps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>
      <p:cViewPr varScale="1"/>
    </p:cSldViewPr>
  </p:slideViewPr>
  <p:notesTextViewPr>
    <p:cViewPr/>
  </p:notesText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9" Type="http://schemas.openxmlformats.org/officeDocument/2006/relationships/theme" Target="theme/theme1.xml"/>
  <Relationship Id="rId10" Type="http://schemas.openxmlformats.org/officeDocument/2006/relationships/presProps" Target="presProps.xml"/>
  <Relationship Id="rId11" Type="http://schemas.openxmlformats.org/officeDocument/2006/relationships/tableStyles" Target="tableStyles.xml"/>
  <Relationship Id="rId12" Type="http://schemas.openxmlformats.org/officeDocument/2006/relationships/viewProps" Target="viewProps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5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5B9BD5"/>
                </a:solidFill>
              </a:rPr>
              <a:t xml:space="preserve">BOARD PRESENTATION</a:t>
            </a:r>
          </a:p>
        </p:txBody>
      </p:sp>
      <p:sp>
        <p:nvSpPr>
          <p:cNvPr id="4" name="MainTitle"/>
          <p:cNvSpPr txBox="1"/>
          <p:nvPr/>
        </p:nvSpPr>
        <p:spPr>
          <a:xfrm>
            <a:off x="685800" y="1900000"/>
            <a:ext cx="10820400" cy="11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800" lang="en-US" b="1" ea="Calibri">
                <a:solidFill>
                  <a:srgbClr val="FFFFFF"/>
                </a:solidFill>
              </a:rPr>
              <a:t xml:space="preserve">M&amp;A Target Assessment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000000" y="31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Subtitle"/>
          <p:cNvSpPr txBox="1"/>
          <p:nvPr/>
        </p:nvSpPr>
        <p:spPr>
          <a:xfrm>
            <a:off x="685800" y="3300000"/>
            <a:ext cx="10820400" cy="9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800" lang="en-US" ea="Calibri">
                <a:solidFill>
                  <a:srgbClr val="A0C8E8"/>
                </a:solidFill>
              </a:rPr>
              <a:t xml:space="preserve">DocuTech AI — Strategic Acquisition Analysis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Confidential — Board Materials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May 2026</a:t>
            </a:r>
          </a:p>
        </p:txBody>
      </p:sp>
      <p:sp>
        <p:nvSpPr>
          <p:cNvPr id="7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8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Executive Summary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318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Target: </a:t>
            </a:r>
            <a:r>
              <a:rPr sz="1800" lang="en-US" ea="Calibri">
                <a:solidFill>
                  <a:srgbClr val="2D2D2D"/>
                </a:solidFill>
              </a:rPr>
              <a:t xml:space="preserve">DocuTech AI — AI-powered document intelligence platform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Ask Price: </a:t>
            </a:r>
            <a:r>
              <a:rPr sz="1800" lang="en-US" ea="Calibri">
                <a:solidFill>
                  <a:srgbClr val="2D2D2D"/>
                </a:solidFill>
              </a:rPr>
              <a:t xml:space="preserve">$45-55M (all-cash or cash + equity)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Strategic rationale: </a:t>
            </a:r>
            <a:r>
              <a:rPr sz="1800" lang="en-US" ea="Calibri">
                <a:solidFill>
                  <a:srgbClr val="2D2D2D"/>
                </a:solidFill>
              </a:rPr>
              <a:t xml:space="preserve">Accelerate AI capabilities, acquire enterprise customers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Revenue: </a:t>
            </a:r>
            <a:r>
              <a:rPr sz="1800" lang="en-US" ea="Calibri">
                <a:solidFill>
                  <a:srgbClr val="2D2D2D"/>
                </a:solidFill>
              </a:rPr>
              <a:t xml:space="preserve">$6.2M ARR, 140% YoY growth, 85% gross margin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Customer base: </a:t>
            </a:r>
            <a:r>
              <a:rPr sz="1800" lang="en-US" ea="Calibri">
                <a:solidFill>
                  <a:srgbClr val="2D2D2D"/>
                </a:solidFill>
              </a:rPr>
              <a:t xml:space="preserve">85 enterprise clients, 92% net retention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Team: </a:t>
            </a:r>
            <a:r>
              <a:rPr sz="1800" lang="en-US" ea="Calibri">
                <a:solidFill>
                  <a:srgbClr val="2D2D2D"/>
                </a:solidFill>
              </a:rPr>
              <a:t xml:space="preserve">42 employees (28 engineering, 8 G&amp;A, 6 sales &amp; marketing)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Recommendation: </a:t>
            </a:r>
            <a:r>
              <a:rPr sz="1800" lang="en-US" ea="Calibri">
                <a:solidFill>
                  <a:srgbClr val="2D2D2D"/>
                </a:solidFill>
              </a:rPr>
              <a:t xml:space="preserve">Proceed to due diligence with $48M indicative offer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Strategic Rationale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DocuTech AI's NLP engine complements our OOXML processing capabilities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Combined entity offers end-to-end document intelligence: create, process, analyze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Enterprise customer overlap: </a:t>
            </a:r>
            <a:r>
              <a:rPr sz="1800" lang="en-US" ea="Calibri">
                <a:solidFill>
                  <a:srgbClr val="2D2D2D"/>
                </a:solidFill>
              </a:rPr>
              <a:t xml:space="preserve">&lt;15% — significant cross-sell opportunity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Technology moat: </a:t>
            </a:r>
            <a:r>
              <a:rPr sz="1800" lang="en-US" ea="Calibri">
                <a:solidFill>
                  <a:srgbClr val="2D2D2D"/>
                </a:solidFill>
              </a:rPr>
              <a:t xml:space="preserve">12 patents pending on AI document classification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Accelerates our product verticalization roadmap by 12-18 months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Talent acquisition: </a:t>
            </a:r>
            <a:r>
              <a:rPr sz="1800" lang="en-US" ea="Calibri">
                <a:solidFill>
                  <a:srgbClr val="2D2D2D"/>
                </a:solidFill>
              </a:rPr>
              <a:t xml:space="preserve">world-class NLP research team of 8 PhDs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Financial Analysis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318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Revenue: </a:t>
            </a:r>
            <a:r>
              <a:rPr sz="1800" lang="en-US" ea="Calibri">
                <a:solidFill>
                  <a:srgbClr val="2D2D2D"/>
                </a:solidFill>
              </a:rPr>
              <a:t xml:space="preserve">$6.2M ARR with 140% YoY growth trajectory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Gross Margin: </a:t>
            </a:r>
            <a:r>
              <a:rPr sz="1800" lang="en-US" ea="Calibri">
                <a:solidFill>
                  <a:srgbClr val="2D2D2D"/>
                </a:solidFill>
              </a:rPr>
              <a:t xml:space="preserve">85% (SaaS model with 92% net revenue retention)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EBITDA: </a:t>
            </a:r>
            <a:r>
              <a:rPr sz="1800" lang="en-US" ea="Calibri">
                <a:solidFill>
                  <a:srgbClr val="2D2D2D"/>
                </a:solidFill>
              </a:rPr>
              <a:t xml:space="preserve">-$1.2M (heavy R&amp;D investment phase)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Customer ACV: </a:t>
            </a:r>
            <a:r>
              <a:rPr sz="1800" lang="en-US" ea="Calibri">
                <a:solidFill>
                  <a:srgbClr val="2D2D2D"/>
                </a:solidFill>
              </a:rPr>
              <a:t xml:space="preserve">$73K average, $250K top-tier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Sales efficiency: </a:t>
            </a:r>
            <a:r>
              <a:rPr sz="1800" lang="en-US" ea="Calibri">
                <a:solidFill>
                  <a:srgbClr val="2D2D2D"/>
                </a:solidFill>
              </a:rPr>
              <a:t xml:space="preserve">Magic Number of 0.95x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Projected breakeven: </a:t>
            </a:r>
            <a:r>
              <a:rPr sz="1800" lang="en-US" ea="Calibri">
                <a:solidFill>
                  <a:srgbClr val="2D2D2D"/>
                </a:solidFill>
              </a:rPr>
              <a:t xml:space="preserve">Q3 2027 without acquisition synergies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Synergy potential: </a:t>
            </a:r>
            <a:r>
              <a:rPr sz="1800" lang="en-US" ea="Calibri">
                <a:solidFill>
                  <a:srgbClr val="2D2D2D"/>
                </a:solidFill>
              </a:rPr>
              <a:t xml:space="preserve">$3-5M cost savings, $8-12M revenue synergies by Year 3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Valuation &amp; Deal Structure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318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Implied EV/ARR multiple: </a:t>
            </a:r>
            <a:r>
              <a:rPr sz="1800" lang="en-US" ea="Calibri">
                <a:solidFill>
                  <a:srgbClr val="2D2D2D"/>
                </a:solidFill>
              </a:rPr>
              <a:t xml:space="preserve">7.3-8.9x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Comps: </a:t>
            </a:r>
            <a:r>
              <a:rPr sz="1800" lang="en-US" ea="Calibri">
                <a:solidFill>
                  <a:srgbClr val="2D2D2D"/>
                </a:solidFill>
              </a:rPr>
              <a:t xml:space="preserve">5-12x range for AI/SaaS companies at similar scale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40% premium to comp median justified by strategic fit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Structure: </a:t>
            </a:r>
            <a:r>
              <a:rPr sz="1800" lang="en-US" ea="Calibri">
                <a:solidFill>
                  <a:srgbClr val="2D2D2D"/>
                </a:solidFill>
              </a:rPr>
              <a:t xml:space="preserve">$35M cash + $13M equity (vesting over 3 years)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Earn-out: </a:t>
            </a:r>
            <a:r>
              <a:rPr sz="1800" lang="en-US" ea="Calibri">
                <a:solidFill>
                  <a:srgbClr val="2D2D2D"/>
                </a:solidFill>
              </a:rPr>
              <a:t xml:space="preserve">$5M additional based on FY 2027 revenue target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Funding: </a:t>
            </a:r>
            <a:r>
              <a:rPr sz="1800" lang="en-US" ea="Calibri">
                <a:solidFill>
                  <a:srgbClr val="2D2D2D"/>
                </a:solidFill>
              </a:rPr>
              <a:t xml:space="preserve">existing cash ($8.2M) + debt facility ($15M) + equity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Accretion to Acme Corp EPS expected by Year 2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Integration Plan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Day 1-30: </a:t>
            </a:r>
            <a:r>
              <a:rPr sz="1800" lang="en-US" ea="Calibri">
                <a:solidFill>
                  <a:srgbClr val="2D2D2D"/>
                </a:solidFill>
              </a:rPr>
              <a:t xml:space="preserve">Leadership alignment, cultural integration, retention packages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Day 31-90: </a:t>
            </a:r>
            <a:r>
              <a:rPr sz="1800" lang="en-US" ea="Calibri">
                <a:solidFill>
                  <a:srgbClr val="2D2D2D"/>
                </a:solidFill>
              </a:rPr>
              <a:t xml:space="preserve">Technology stack integration, API unification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Day 91-180: </a:t>
            </a:r>
            <a:r>
              <a:rPr sz="1800" lang="en-US" ea="Calibri">
                <a:solidFill>
                  <a:srgbClr val="2D2D2D"/>
                </a:solidFill>
              </a:rPr>
              <a:t xml:space="preserve">Sales team integration, cross-training, bundled offerings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Day 181-365: </a:t>
            </a:r>
            <a:r>
              <a:rPr sz="1800" lang="en-US" ea="Calibri">
                <a:solidFill>
                  <a:srgbClr val="2D2D2D"/>
                </a:solidFill>
              </a:rPr>
              <a:t xml:space="preserve">Unified product roadmap, combined R&amp;D sprints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Key risk: </a:t>
            </a:r>
            <a:r>
              <a:rPr sz="1800" lang="en-US" ea="Calibri">
                <a:solidFill>
                  <a:srgbClr val="2D2D2D"/>
                </a:solidFill>
              </a:rPr>
              <a:t xml:space="preserve">Talent retention — 18-month equity vesting for key personnel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Integration team: </a:t>
            </a:r>
            <a:r>
              <a:rPr sz="1800" lang="en-US" ea="Calibri">
                <a:solidFill>
                  <a:srgbClr val="2D2D2D"/>
                </a:solidFill>
              </a:rPr>
              <a:t xml:space="preserve">Dedicated PMO with 5 workstream leads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ThankYou"/>
          <p:cNvSpPr txBox="1"/>
          <p:nvPr/>
        </p:nvSpPr>
        <p:spPr>
          <a:xfrm>
            <a:off x="685800" y="2300000"/>
            <a:ext cx="10820400" cy="8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400" lang="en-US" b="1" ea="Calibri">
                <a:solidFill>
                  <a:srgbClr val="FFFFFF"/>
                </a:solidFill>
              </a:rPr>
              <a:t xml:space="preserve">Thank You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4000000" y="32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Subtitle"/>
          <p:cNvSpPr txBox="1"/>
          <p:nvPr/>
        </p:nvSpPr>
        <p:spPr>
          <a:xfrm>
            <a:off x="685800" y="3400000"/>
            <a:ext cx="10820400" cy="6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600" lang="en-US" ea="Calibri">
                <a:solidFill>
                  <a:srgbClr val="A0C8E8"/>
                </a:solidFill>
              </a:rPr>
              <a:t xml:space="preserve">Corporate Development — Acme Corp</a:t>
            </a:r>
          </a:p>
          <a:p algn="ctr">
            <a:r>
              <a:rPr sz="1600" lang="en-US" ea="Calibri">
                <a:solidFill>
                  <a:srgbClr val="A0C8E8"/>
                </a:solidFill>
              </a:rPr>
              <a:t xml:space="preserve">strategy@acmecorp.com</a:t>
            </a:r>
          </a:p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Kinsey">
  <a:themeElements>
    <a:clrScheme name="McKinsey">
      <a:dk1>
        <a:srgbClr val="003A70"/>
      </a:dk1>
      <a:lt1>
        <a:srgbClr val="FFFFFF"/>
      </a:lt1>
      <a:dk2>
        <a:srgbClr val="2D2D2D"/>
      </a:dk2>
      <a:lt2>
        <a:srgbClr val="F2F2F2"/>
      </a:lt2>
      <a:accent1>
        <a:srgbClr val="003A70"/>
      </a:accent1>
      <a:accent2>
        <a:srgbClr val="5B9BD5"/>
      </a:accent2>
      <a:accent3>
        <a:srgbClr val="70AD47"/>
      </a:accent3>
      <a:accent4>
        <a:srgbClr val="FFC000"/>
      </a:accent4>
      <a:accent5>
        <a:srgbClr val="ED7D31"/>
      </a:accent5>
      <a:accent6>
        <a:srgbClr val="A5A5A5"/>
      </a:accent6>
      <a:hlink>
        <a:srgbClr val="4472C4"/>
      </a:hlink>
      <a:folHlink>
        <a:srgbClr val="954F72"/>
      </a:folHlink>
    </a:clrScheme>
  </a:themeElements>
</a:theme>
</file>