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Props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>
      <p:cViewPr varScale="1"/>
    </p:cSldViewPr>
  </p:slideViewPr>
  <p:notesTextViewPr>
    <p:cViewPr/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8" Type="http://schemas.openxmlformats.org/officeDocument/2006/relationships/theme" Target="theme/theme1.xml"/>
  <Relationship Id="rId9" Type="http://schemas.openxmlformats.org/officeDocument/2006/relationships/presProps" Target="presProps.xml"/>
  <Relationship Id="rId10" Type="http://schemas.openxmlformats.org/officeDocument/2006/relationships/tableStyles" Target="tableStyles.xml"/>
  <Relationship Id="rId11" Type="http://schemas.openxmlformats.org/officeDocument/2006/relationships/viewProps" Target="viewProp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5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BOARD PRESENTATION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685800" y="1900000"/>
            <a:ext cx="10820400" cy="11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800" lang="en-US" b="1" ea="Calibri">
                <a:solidFill>
                  <a:srgbClr val="FFFFFF"/>
                </a:solidFill>
              </a:rPr>
              <a:t xml:space="preserve">Digital Transformation Roadmap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000000" y="31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Sub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800" lang="en-US" ea="Calibri">
                <a:solidFill>
                  <a:srgbClr val="A0C8E8"/>
                </a:solidFill>
              </a:rPr>
              <a:t xml:space="preserve">Enterprise Technology Strategy 2026–2028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Confidential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May 2026</a:t>
            </a:r>
          </a:p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Vision &amp; Strategic Objectives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Vision: </a:t>
            </a:r>
            <a:r>
              <a:rPr sz="1800" lang="en-US" ea="Calibri">
                <a:solidFill>
                  <a:srgbClr val="2D2D2D"/>
                </a:solidFill>
              </a:rPr>
              <a:t xml:space="preserve">Become the AI-native document infrastructure for the enterprise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Objective 1: </a:t>
            </a:r>
            <a:r>
              <a:rPr sz="1800" lang="en-US" ea="Calibri">
                <a:solidFill>
                  <a:srgbClr val="2D2D2D"/>
                </a:solidFill>
              </a:rPr>
              <a:t xml:space="preserve">Achieve 10x developer productivity through SDK-first architecture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Objective 2: </a:t>
            </a:r>
            <a:r>
              <a:rPr sz="1800" lang="en-US" ea="Calibri">
                <a:solidFill>
                  <a:srgbClr val="2D2D2D"/>
                </a:solidFill>
              </a:rPr>
              <a:t xml:space="preserve">Enable zero-touch document workflows across all formats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Objective 3: </a:t>
            </a:r>
            <a:r>
              <a:rPr sz="1800" lang="en-US" ea="Calibri">
                <a:solidFill>
                  <a:srgbClr val="2D2D2D"/>
                </a:solidFill>
              </a:rPr>
              <a:t xml:space="preserve">Build the largest open-source Office document community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Objective 4: </a:t>
            </a:r>
            <a:r>
              <a:rPr sz="1800" lang="en-US" ea="Calibri">
                <a:solidFill>
                  <a:srgbClr val="2D2D2D"/>
                </a:solidFill>
              </a:rPr>
              <a:t xml:space="preserve">Achieve 99.99% reliability with sub-millisecond latency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Each objective has clear KPIs and quarterly milestones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Current State Assessment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Strengths: </a:t>
            </a:r>
            <a:r>
              <a:rPr sz="1800" lang="en-US" ea="Calibri">
                <a:solidFill>
                  <a:srgbClr val="2D2D2D"/>
                </a:solidFill>
              </a:rPr>
              <a:t xml:space="preserve">Speed (100-500x vs Python), 4MB binary, zero deps, local-first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Weaknesses: </a:t>
            </a:r>
            <a:r>
              <a:rPr sz="1800" lang="en-US" ea="Calibri">
                <a:solidFill>
                  <a:srgbClr val="2D2D2D"/>
                </a:solidFill>
              </a:rPr>
              <a:t xml:space="preserve">Limited write capabilities, no cloud-native deployment option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Opportunities: </a:t>
            </a:r>
            <a:r>
              <a:rPr sz="1800" lang="en-US" ea="Calibri">
                <a:solidFill>
                  <a:srgbClr val="2D2D2D"/>
                </a:solidFill>
              </a:rPr>
              <a:t xml:space="preserve">Enterprise standardization on MCP protocol, AI agent adoption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Threats: </a:t>
            </a:r>
            <a:r>
              <a:rPr sz="1800" lang="en-US" ea="Calibri">
                <a:solidFill>
                  <a:srgbClr val="2D2D2D"/>
                </a:solidFill>
              </a:rPr>
              <a:t xml:space="preserve">Microsoft Graph API improvements, Google Docs API expansion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Gap analysis: </a:t>
            </a:r>
            <a:r>
              <a:rPr sz="1800" lang="en-US" ea="Calibri">
                <a:solidFill>
                  <a:srgbClr val="2D2D2D"/>
                </a:solidFill>
              </a:rPr>
              <a:t xml:space="preserve">40% of planned tools delivered (36 of 90)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Priority: </a:t>
            </a:r>
            <a:r>
              <a:rPr sz="1800" lang="en-US" ea="Calibri">
                <a:solidFill>
                  <a:srgbClr val="2D2D2D"/>
                </a:solidFill>
              </a:rPr>
              <a:t xml:space="preserve">Close the write gap in EPIC-1 and EPIC-2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Technology Architecture Evolution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1 (Current): </a:t>
            </a:r>
            <a:r>
              <a:rPr sz="1800" lang="en-US" ea="Calibri">
                <a:solidFill>
                  <a:srgbClr val="2D2D2D"/>
                </a:solidFill>
              </a:rPr>
              <a:t xml:space="preserve">Monolithic Rust binary with MCP stdio transport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2 (Q3 2026): </a:t>
            </a:r>
            <a:r>
              <a:rPr sz="1800" lang="en-US" ea="Calibri">
                <a:solidFill>
                  <a:srgbClr val="2D2D2D"/>
                </a:solidFill>
              </a:rPr>
              <a:t xml:space="preserve">Plugin architecture for custom format handlers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3 (Q1 2027): </a:t>
            </a:r>
            <a:r>
              <a:rPr sz="1800" lang="en-US" ea="Calibri">
                <a:solidFill>
                  <a:srgbClr val="2D2D2D"/>
                </a:solidFill>
              </a:rPr>
              <a:t xml:space="preserve">Streaming HTTP transport, horizontal scaling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4 (Q3 2027): </a:t>
            </a:r>
            <a:r>
              <a:rPr sz="1800" lang="en-US" ea="Calibri">
                <a:solidFill>
                  <a:srgbClr val="2D2D2D"/>
                </a:solidFill>
              </a:rPr>
              <a:t xml:space="preserve">Distributed processing for large-scale enterprise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5 (2028): </a:t>
            </a:r>
            <a:r>
              <a:rPr sz="1800" lang="en-US" ea="Calibri">
                <a:solidFill>
                  <a:srgbClr val="2D2D2D"/>
                </a:solidFill>
              </a:rPr>
              <a:t xml:space="preserve">Edge-native deployment, WASM compilation target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Each phase maintains backward compatibility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Platform Maturity Model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Level 1 (Current): </a:t>
            </a:r>
            <a:r>
              <a:rPr sz="1800" lang="en-US" ea="Calibri">
                <a:solidFill>
                  <a:srgbClr val="2D2D2D"/>
                </a:solidFill>
              </a:rPr>
              <a:t xml:space="preserve">Core read + limited write for 6 Office formats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Level 2 (Q3 2026): </a:t>
            </a:r>
            <a:r>
              <a:rPr sz="1800" lang="en-US" ea="Calibri">
                <a:solidFill>
                  <a:srgbClr val="2D2D2D"/>
                </a:solidFill>
              </a:rPr>
              <a:t xml:space="preserve">Full read/write/edit for all formats, 90+ tools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Level 3 (Q1 2027): </a:t>
            </a:r>
            <a:r>
              <a:rPr sz="1800" lang="en-US" ea="Calibri">
                <a:solidFill>
                  <a:srgbClr val="2D2D2D"/>
                </a:solidFill>
              </a:rPr>
              <a:t xml:space="preserve">Skills System with 50+ community-contributed skills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Level 4 (Q3 2027): </a:t>
            </a:r>
            <a:r>
              <a:rPr sz="1800" lang="en-US" ea="Calibri">
                <a:solidFill>
                  <a:srgbClr val="2D2D2D"/>
                </a:solidFill>
              </a:rPr>
              <a:t xml:space="preserve">Coherence Engine, batch operations, templates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Level 5 (2028): </a:t>
            </a:r>
            <a:r>
              <a:rPr sz="1800" lang="en-US" ea="Calibri">
                <a:solidFill>
                  <a:srgbClr val="2D2D2D"/>
                </a:solidFill>
              </a:rPr>
              <a:t xml:space="preserve">AI-native document intelligence and autonomous workflows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Each level unlocks new market segments and use cases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ThankYou"/>
          <p:cNvSpPr txBox="1"/>
          <p:nvPr/>
        </p:nvSpPr>
        <p:spPr>
          <a:xfrm>
            <a:off x="685800" y="2300000"/>
            <a:ext cx="10820400" cy="8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400" lang="en-US" b="1" ea="Calibri">
                <a:solidFill>
                  <a:srgbClr val="FFFFFF"/>
                </a:solidFill>
              </a:rPr>
              <a:t xml:space="preserve">Thank You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4000000" y="32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Subtitle"/>
          <p:cNvSpPr txBox="1"/>
          <p:nvPr/>
        </p:nvSpPr>
        <p:spPr>
          <a:xfrm>
            <a:off x="685800" y="3400000"/>
            <a:ext cx="10820400" cy="6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600" lang="en-US" ea="Calibri">
                <a:solidFill>
                  <a:srgbClr val="A0C8E8"/>
                </a:solidFill>
              </a:rPr>
              <a:t xml:space="preserve">Technology Team — Acme Corp</a:t>
            </a:r>
          </a:p>
          <a:p algn="ctr">
            <a:r>
              <a:rPr sz="1600" lang="en-US" ea="Calibri">
                <a:solidFill>
                  <a:srgbClr val="A0C8E8"/>
                </a:solidFill>
              </a:rPr>
              <a:t xml:space="preserve">eng@acmecorp.com</a:t>
            </a:r>
          </a:p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Kinsey">
  <a:themeElements>
    <a:clrScheme name="McKinsey">
      <a:dk1>
        <a:srgbClr val="003A70"/>
      </a:dk1>
      <a:lt1>
        <a:srgbClr val="FFFFFF"/>
      </a:lt1>
      <a:dk2>
        <a:srgbClr val="2D2D2D"/>
      </a:dk2>
      <a:lt2>
        <a:srgbClr val="F2F2F2"/>
      </a:lt2>
      <a:accent1>
        <a:srgbClr val="003A70"/>
      </a:accent1>
      <a:accent2>
        <a:srgbClr val="5B9BD5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4472C4"/>
      </a:hlink>
      <a:folHlink>
        <a:srgbClr val="954F72"/>
      </a:folHlink>
    </a:clrScheme>
  </a:themeElements>
</a:theme>
</file>