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/>
</p:presentation>
</file>

<file path=ppt/presProps.xml><?xml version="1.0" encoding="utf-8"?>
<p:presProps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>
      <p:cViewPr varScale="1"/>
    </p:cSldViewPr>
  </p:slideViewPr>
  <p:notesTextViewPr>
    <p:cViewPr/>
  </p:notesText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9" Type="http://schemas.openxmlformats.org/officeDocument/2006/relationships/theme" Target="theme/theme1.xml"/>
  <Relationship Id="rId10" Type="http://schemas.openxmlformats.org/officeDocument/2006/relationships/presProps" Target="presProps.xml"/>
  <Relationship Id="rId11" Type="http://schemas.openxmlformats.org/officeDocument/2006/relationships/tableStyles" Target="tableStyles.xml"/>
  <Relationship Id="rId12" Type="http://schemas.openxmlformats.org/officeDocument/2006/relationships/viewProps" Target="viewProps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>
    <p:spTree>
      <p:nvGrpSpPr>
        <p:cNvPr id="1" name=""/>
        <p:cNvGrpSpPr/>
        <p:nvPr/>
      </p:nvGrpSpPr>
      <p:grpSpPr/>
    </p:spTree>
  </p:cSld>
</p:sldLayout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70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AccentLine"/>
          <p:cNvSpPr>
            <a:spLocks noGrp="1"/>
          </p:cNvSpPr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685800" y="1500000"/>
            <a:ext cx="10820400" cy="3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200" lang="en-US" b="1" ea="Calibri">
                <a:solidFill>
                  <a:srgbClr val="5B9BD5"/>
                </a:solidFill>
              </a:rPr>
              <a:t xml:space="preserve">BOARD PRESENTATION</a:t>
            </a:r>
          </a:p>
        </p:txBody>
      </p:sp>
      <p:sp>
        <p:nvSpPr>
          <p:cNvPr id="4" name="MainTitle"/>
          <p:cNvSpPr txBox="1"/>
          <p:nvPr/>
        </p:nvSpPr>
        <p:spPr>
          <a:xfrm>
            <a:off x="685800" y="1900000"/>
            <a:ext cx="10820400" cy="11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4800" lang="en-US" b="1" ea="Calibri">
                <a:solidFill>
                  <a:srgbClr val="FFFFFF"/>
                </a:solidFill>
              </a:rPr>
              <a:t xml:space="preserve">Compliance Automation Suite</a:t>
            </a:r>
          </a:p>
        </p:txBody>
      </p:sp>
      <p:sp>
        <p:nvSpPr>
          <p:cNvPr id="5" name="AccentLine"/>
          <p:cNvSpPr>
            <a:spLocks noGrp="1"/>
          </p:cNvSpPr>
          <p:nvPr/>
        </p:nvSpPr>
        <p:spPr>
          <a:xfrm>
            <a:off x="4000000" y="3100000"/>
            <a:ext cx="4192000" cy="3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Subtitle"/>
          <p:cNvSpPr txBox="1"/>
          <p:nvPr/>
        </p:nvSpPr>
        <p:spPr>
          <a:xfrm>
            <a:off x="685800" y="3300000"/>
            <a:ext cx="10820400" cy="9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800" lang="en-US" ea="Calibri">
                <a:solidFill>
                  <a:srgbClr val="A0C8E8"/>
                </a:solidFill>
              </a:rPr>
              <a:t xml:space="preserve">Product Strategy &amp; Go-to-Market Plan</a:t>
            </a:r>
          </a:p>
          <a:p algn="ctr">
            <a:r>
              <a:rPr sz="1800" lang="en-US" ea="Calibri">
                <a:solidFill>
                  <a:srgbClr val="A0C8E8"/>
                </a:solidFill>
              </a:rPr>
              <a:t xml:space="preserve">Confidential — Internal Use Only</a:t>
            </a:r>
          </a:p>
          <a:p algn="ctr">
            <a:r>
              <a:rPr sz="1800" lang="en-US" ea="Calibri">
                <a:solidFill>
                  <a:srgbClr val="A0C8E8"/>
                </a:solidFill>
              </a:rPr>
              <a:t xml:space="preserve">May 2026</a:t>
            </a:r>
          </a:p>
        </p:txBody>
      </p:sp>
      <p:sp>
        <p:nvSpPr>
          <p:cNvPr id="7" name="AccentLine"/>
          <p:cNvSpPr>
            <a:spLocks noGrp="1"/>
          </p:cNvSpPr>
          <p:nvPr/>
        </p:nvSpPr>
        <p:spPr>
          <a:xfrm>
            <a:off x="685800" y="6578000"/>
            <a:ext cx="10820400" cy="12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8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8899AA"/>
                </a:solidFill>
              </a:rPr>
              <a:t xml:space="preserve"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Market Opportunity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ChartTitle"/>
          <p:cNvSpPr txBox="1"/>
          <p:nvPr/>
        </p:nvSpPr>
        <p:spPr>
          <a:xfrm>
            <a:off x="819800" y="944000"/>
            <a:ext cx="10606400" cy="30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1600" lang="en-US" b="1" ea="Calibri">
                <a:solidFill>
                  <a:srgbClr val="2D2D2D"/>
                </a:solidFill>
              </a:rPr>
              <a:t xml:space="preserve">TAM by Segment ($B)</a:t>
            </a:r>
          </a:p>
        </p:txBody>
      </p:sp>
      <p:sp>
        <p:nvSpPr>
          <p:cNvPr id="7" name="ChCol0"/>
          <p:cNvSpPr>
            <a:spLocks noGrp="1"/>
          </p:cNvSpPr>
          <p:nvPr/>
        </p:nvSpPr>
        <p:spPr>
          <a:xfrm>
            <a:off x="1019800" y="944000"/>
            <a:ext cx="2401600" cy="280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8" name="ChVl0"/>
          <p:cNvSpPr txBox="1"/>
          <p:nvPr/>
        </p:nvSpPr>
        <p:spPr>
          <a:xfrm>
            <a:off x="979800" y="744000"/>
            <a:ext cx="2481600" cy="18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200" lang="en-US" b="1" ea="Calibri">
                <a:solidFill>
                  <a:srgbClr val="003A70"/>
                </a:solidFill>
              </a:rPr>
              <a:t xml:space="preserve">18%</a:t>
            </a:r>
          </a:p>
        </p:txBody>
      </p:sp>
      <p:sp>
        <p:nvSpPr>
          <p:cNvPr id="9" name="ChLb0"/>
          <p:cNvSpPr txBox="1"/>
          <p:nvPr/>
        </p:nvSpPr>
        <p:spPr>
          <a:xfrm>
            <a:off x="979800" y="3774000"/>
            <a:ext cx="2481600" cy="2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100" lang="en-US" ea="Calibri">
                <a:solidFill>
                  <a:srgbClr val="2D2D2D"/>
                </a:solidFill>
              </a:rPr>
              <a:t xml:space="preserve">Financial
Services</a:t>
            </a:r>
          </a:p>
        </p:txBody>
      </p:sp>
      <p:sp>
        <p:nvSpPr>
          <p:cNvPr id="10" name="ChCol1"/>
          <p:cNvSpPr>
            <a:spLocks noGrp="1"/>
          </p:cNvSpPr>
          <p:nvPr/>
        </p:nvSpPr>
        <p:spPr>
          <a:xfrm>
            <a:off x="3621400" y="1877334"/>
            <a:ext cx="2401600" cy="1866666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11" name="ChVl1"/>
          <p:cNvSpPr txBox="1"/>
          <p:nvPr/>
        </p:nvSpPr>
        <p:spPr>
          <a:xfrm>
            <a:off x="3581400" y="1677334"/>
            <a:ext cx="2481600" cy="18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200" lang="en-US" b="1" ea="Calibri">
                <a:solidFill>
                  <a:srgbClr val="5B9BD5"/>
                </a:solidFill>
              </a:rPr>
              <a:t xml:space="preserve">12%</a:t>
            </a:r>
          </a:p>
        </p:txBody>
      </p:sp>
      <p:sp>
        <p:nvSpPr>
          <p:cNvPr id="12" name="ChLb1"/>
          <p:cNvSpPr txBox="1"/>
          <p:nvPr/>
        </p:nvSpPr>
        <p:spPr>
          <a:xfrm>
            <a:off x="3581400" y="3774000"/>
            <a:ext cx="2481600" cy="2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100" lang="en-US" ea="Calibri">
                <a:solidFill>
                  <a:srgbClr val="2D2D2D"/>
                </a:solidFill>
              </a:rPr>
              <a:t xml:space="preserve">Healthcare</a:t>
            </a:r>
          </a:p>
        </p:txBody>
      </p:sp>
      <p:sp>
        <p:nvSpPr>
          <p:cNvPr id="13" name="ChCol2"/>
          <p:cNvSpPr>
            <a:spLocks noGrp="1"/>
          </p:cNvSpPr>
          <p:nvPr/>
        </p:nvSpPr>
        <p:spPr>
          <a:xfrm>
            <a:off x="6223000" y="2655112"/>
            <a:ext cx="2401600" cy="1088888"/>
          </a:xfrm>
          <a:prstGeom prst="rect">
            <a:avLst/>
          </a:prstGeom>
          <a:solidFill>
            <a:srgbClr val="70AD47"/>
          </a:solidFill>
        </p:spPr>
        <p:txBody>
          <a:bodyPr/>
          <a:lstStyle/>
          <a:p/>
        </p:txBody>
      </p:sp>
      <p:sp>
        <p:nvSpPr>
          <p:cNvPr id="14" name="ChVl2"/>
          <p:cNvSpPr txBox="1"/>
          <p:nvPr/>
        </p:nvSpPr>
        <p:spPr>
          <a:xfrm>
            <a:off x="6183000" y="2455112"/>
            <a:ext cx="2481600" cy="18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200" lang="en-US" b="1" ea="Calibri">
                <a:solidFill>
                  <a:srgbClr val="70AD47"/>
                </a:solidFill>
              </a:rPr>
              <a:t xml:space="preserve">7%</a:t>
            </a:r>
          </a:p>
        </p:txBody>
      </p:sp>
      <p:sp>
        <p:nvSpPr>
          <p:cNvPr id="15" name="ChLb2"/>
          <p:cNvSpPr txBox="1"/>
          <p:nvPr/>
        </p:nvSpPr>
        <p:spPr>
          <a:xfrm>
            <a:off x="6183000" y="3774000"/>
            <a:ext cx="2481600" cy="2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100" lang="en-US" ea="Calibri">
                <a:solidFill>
                  <a:srgbClr val="2D2D2D"/>
                </a:solidFill>
              </a:rPr>
              <a:t xml:space="preserve">Tech &amp;
Industrial</a:t>
            </a:r>
          </a:p>
        </p:txBody>
      </p:sp>
      <p:sp>
        <p:nvSpPr>
          <p:cNvPr id="16" name="ChCol3"/>
          <p:cNvSpPr>
            <a:spLocks noGrp="1"/>
          </p:cNvSpPr>
          <p:nvPr/>
        </p:nvSpPr>
        <p:spPr>
          <a:xfrm>
            <a:off x="8824600" y="2966223"/>
            <a:ext cx="2401600" cy="777777"/>
          </a:xfrm>
          <a:prstGeom prst="rect">
            <a:avLst/>
          </a:prstGeom>
          <a:solidFill>
            <a:srgbClr val="ED7D31"/>
          </a:solidFill>
        </p:spPr>
        <p:txBody>
          <a:bodyPr/>
          <a:lstStyle/>
          <a:p/>
        </p:txBody>
      </p:sp>
      <p:sp>
        <p:nvSpPr>
          <p:cNvPr id="17" name="ChVl3"/>
          <p:cNvSpPr txBox="1"/>
          <p:nvPr/>
        </p:nvSpPr>
        <p:spPr>
          <a:xfrm>
            <a:off x="8784600" y="2766223"/>
            <a:ext cx="2481600" cy="18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200" lang="en-US" b="1" ea="Calibri">
                <a:solidFill>
                  <a:srgbClr val="ED7D31"/>
                </a:solidFill>
              </a:rPr>
              <a:t xml:space="preserve">5%</a:t>
            </a:r>
          </a:p>
        </p:txBody>
      </p:sp>
      <p:sp>
        <p:nvSpPr>
          <p:cNvPr id="18" name="ChLb3"/>
          <p:cNvSpPr txBox="1"/>
          <p:nvPr/>
        </p:nvSpPr>
        <p:spPr>
          <a:xfrm>
            <a:off x="8784600" y="3774000"/>
            <a:ext cx="2481600" cy="2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100" lang="en-US" ea="Calibri">
                <a:solidFill>
                  <a:srgbClr val="2D2D2D"/>
                </a:solidFill>
              </a:rPr>
              <a:t xml:space="preserve">Public
Sector</a:t>
            </a:r>
          </a:p>
        </p:txBody>
      </p:sp>
      <p:sp>
        <p:nvSpPr>
          <p:cNvPr id="19" name="BodyContent"/>
          <p:cNvSpPr>
            <a:spLocks noGrp="1"/>
          </p:cNvSpPr>
          <p:nvPr/>
        </p:nvSpPr>
        <p:spPr>
          <a:xfrm>
            <a:off x="819800" y="944000"/>
            <a:ext cx="10606400" cy="150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Market projected to reach $42B by 2027 (CAGR 13.2%)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Top pain points: </a:t>
            </a:r>
            <a:r>
              <a:rPr sz="1800" lang="en-US" ea="Calibri">
                <a:solidFill>
                  <a:srgbClr val="2D2D2D"/>
                </a:solidFill>
              </a:rPr>
              <a:t xml:space="preserve">manual processes (67%), fragmented tools (54%), audit readiness (48%)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78% of compliance officers report increasing regulatory pressure</a:t>
            </a:r>
          </a:p>
        </p:txBody>
      </p:sp>
      <p:sp>
        <p:nvSpPr>
          <p:cNvPr id="20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Product Vision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318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AI-native compliance document generation and management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Automated regulatory filing — reduce manual effort by 80%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Real-time compliance monitoring with instant alerts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Intelligent document classification and redaction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Multi-jurisdiction support with automatic regulation updates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Audit-ready documentation with complete version history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Integration with existing GRC platforms and document management systems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Target Segments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4020000"/>
          </a:xfrm>
        </p:spPr>
        <p:txBody>
          <a:bodyPr wrap="none" lIns="0" tIns="0" rIns="0" bIns="0"/>
          <a:lstStyle/>
          <a:p>
            <a:pPr>
              <a:spcAft>
                <a:spcPts val="200"/>
              </a:spcAft>
              <a:buNone/>
            </a:pPr>
            <a:r>
              <a:rPr sz="2000" lang="en-US" b="1" ea="Calibri">
                <a:solidFill>
                  <a:srgbClr val="2D2D2D"/>
                </a:solidFill>
              </a:rPr>
              <a:t xml:space="preserve">— Average deal size: </a:t>
            </a:r>
            <a:r>
              <a:rPr sz="2000" lang="en-US" ea="Calibri">
                <a:solidFill>
                  <a:srgbClr val="2D2D2D"/>
                </a:solidFill>
              </a:rPr>
              <a:t xml:space="preserve">$250-500K annually</a:t>
            </a:r>
          </a:p>
          <a:p>
            <a:pPr>
              <a:spcAft>
                <a:spcPts val="200"/>
              </a:spcAft>
              <a:buNone/>
            </a:pPr>
            <a:r>
              <a:rPr sz="2000" lang="en-US" b="1" ea="Calibri">
                <a:solidFill>
                  <a:srgbClr val="2D2D2D"/>
                </a:solidFill>
              </a:rPr>
              <a:t xml:space="preserve">— Sales cycle: </a:t>
            </a:r>
            <a:r>
              <a:rPr sz="2000" lang="en-US" ea="Calibri">
                <a:solidFill>
                  <a:srgbClr val="2D2D2D"/>
                </a:solidFill>
              </a:rPr>
              <a:t xml:space="preserve">6-9 months</a:t>
            </a:r>
          </a:p>
          <a:p>
            <a:pPr>
              <a:spcAft>
                <a:spcPts val="200"/>
              </a:spcAft>
              <a:buNone/>
            </a:pPr>
            <a:r>
              <a:rPr sz="2000" lang="en-US" b="1" ea="Calibri">
                <a:solidFill>
                  <a:srgbClr val="2D2D2D"/>
                </a:solidFill>
              </a:rPr>
              <a:t xml:space="preserve">— Average deal size: </a:t>
            </a:r>
            <a:r>
              <a:rPr sz="2000" lang="en-US" ea="Calibri">
                <a:solidFill>
                  <a:srgbClr val="2D2D2D"/>
                </a:solidFill>
              </a:rPr>
              <a:t xml:space="preserve">$80-150K annually</a:t>
            </a:r>
          </a:p>
          <a:p>
            <a:pPr>
              <a:spcAft>
                <a:spcPts val="200"/>
              </a:spcAft>
              <a:buNone/>
            </a:pPr>
            <a:r>
              <a:rPr sz="2000" lang="en-US" b="1" ea="Calibri">
                <a:solidFill>
                  <a:srgbClr val="2D2D2D"/>
                </a:solidFill>
              </a:rPr>
              <a:t xml:space="preserve">— Sales cycle: </a:t>
            </a:r>
            <a:r>
              <a:rPr sz="2000" lang="en-US" ea="Calibri">
                <a:solidFill>
                  <a:srgbClr val="2D2D2D"/>
                </a:solidFill>
              </a:rPr>
              <a:t xml:space="preserve">3-6 months</a:t>
            </a:r>
          </a:p>
          <a:p>
            <a:pPr>
              <a:spcAft>
                <a:spcPts val="200"/>
              </a:spcAft>
              <a:buNone/>
            </a:pPr>
            <a:r>
              <a:rPr sz="2000" lang="en-US" b="1" ea="Calibri">
                <a:solidFill>
                  <a:srgbClr val="2D2D2D"/>
                </a:solidFill>
              </a:rPr>
              <a:t xml:space="preserve">— Average deal size: </a:t>
            </a:r>
            <a:r>
              <a:rPr sz="2000" lang="en-US" ea="Calibri">
                <a:solidFill>
                  <a:srgbClr val="2D2D2D"/>
                </a:solidFill>
              </a:rPr>
              <a:t xml:space="preserve">$40-80K annually</a:t>
            </a:r>
          </a:p>
          <a:p>
            <a:pPr>
              <a:spcAft>
                <a:spcPts val="200"/>
              </a:spcAft>
              <a:buNone/>
            </a:pPr>
            <a:r>
              <a:rPr sz="2000" lang="en-US" b="1" ea="Calibri">
                <a:solidFill>
                  <a:srgbClr val="2D2D2D"/>
                </a:solidFill>
              </a:rPr>
              <a:t xml:space="preserve">— Sales cycle: </a:t>
            </a:r>
            <a:r>
              <a:rPr sz="2000" lang="en-US" ea="Calibri">
                <a:solidFill>
                  <a:srgbClr val="2D2D2D"/>
                </a:solidFill>
              </a:rPr>
              <a:t xml:space="preserve">2-4 months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Tier 1: </a:t>
            </a:r>
            <a:r>
              <a:rPr sz="1800" lang="en-US" ea="Calibri">
                <a:solidFill>
                  <a:srgbClr val="2D2D2D"/>
                </a:solidFill>
              </a:rPr>
              <a:t xml:space="preserve">Global banks and financial institutions (50+)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Tier 2: </a:t>
            </a:r>
            <a:r>
              <a:rPr sz="1800" lang="en-US" ea="Calibri">
                <a:solidFill>
                  <a:srgbClr val="2D2D2D"/>
                </a:solidFill>
              </a:rPr>
              <a:t xml:space="preserve">Regional banks and insurance companies (200+)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Tier 3: </a:t>
            </a:r>
            <a:r>
              <a:rPr sz="1800" lang="en-US" ea="Calibri">
                <a:solidFill>
                  <a:srgbClr val="2D2D2D"/>
                </a:solidFill>
              </a:rPr>
              <a:t xml:space="preserve">Healthcare providers and payers (500+)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Go-to-Market Strategy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Phase 1 (Q2 2026): </a:t>
            </a:r>
            <a:r>
              <a:rPr sz="1800" lang="en-US" ea="Calibri">
                <a:solidFill>
                  <a:srgbClr val="2D2D2D"/>
                </a:solidFill>
              </a:rPr>
              <a:t xml:space="preserve">Beta with 3 design partners in financial services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Phase 2 (Q3 2026): </a:t>
            </a:r>
            <a:r>
              <a:rPr sz="1800" lang="en-US" ea="Calibri">
                <a:solidFill>
                  <a:srgbClr val="2D2D2D"/>
                </a:solidFill>
              </a:rPr>
              <a:t xml:space="preserve">General availability — focus on Tier 2 financial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Phase 3 (Q4 2026): </a:t>
            </a:r>
            <a:r>
              <a:rPr sz="1800" lang="en-US" ea="Calibri">
                <a:solidFill>
                  <a:srgbClr val="2D2D2D"/>
                </a:solidFill>
              </a:rPr>
              <a:t xml:space="preserve">Healthcare vertical launch with HIPAA module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Channel: </a:t>
            </a:r>
            <a:r>
              <a:rPr sz="1800" lang="en-US" ea="Calibri">
                <a:solidFill>
                  <a:srgbClr val="2D2D2D"/>
                </a:solidFill>
              </a:rPr>
              <a:t xml:space="preserve">Direct sales + 5 system integrator partnerships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Pricing: </a:t>
            </a:r>
            <a:r>
              <a:rPr sz="1800" lang="en-US" ea="Calibri">
                <a:solidFill>
                  <a:srgbClr val="2D2D2D"/>
                </a:solidFill>
              </a:rPr>
              <a:t xml:space="preserve">Usage-based + annual subscription model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Marketing: </a:t>
            </a:r>
            <a:r>
              <a:rPr sz="1800" lang="en-US" ea="Calibri">
                <a:solidFill>
                  <a:srgbClr val="2D2D2D"/>
                </a:solidFill>
              </a:rPr>
              <a:t xml:space="preserve">Industry conferences, compliance officer communities, content marketing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Revenue Projections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Year 1: </a:t>
            </a:r>
            <a:r>
              <a:rPr sz="1800" lang="en-US" ea="Calibri">
                <a:solidFill>
                  <a:srgbClr val="2D2D2D"/>
                </a:solidFill>
              </a:rPr>
              <a:t xml:space="preserve">$1.5-2.0M ARR (20-25 initial customers)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Year 2: </a:t>
            </a:r>
            <a:r>
              <a:rPr sz="1800" lang="en-US" ea="Calibri">
                <a:solidFill>
                  <a:srgbClr val="2D2D2D"/>
                </a:solidFill>
              </a:rPr>
              <a:t xml:space="preserve">$5-7M ARR (60-80 customers, expansion revenue)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Year 3: </a:t>
            </a:r>
            <a:r>
              <a:rPr sz="1800" lang="en-US" ea="Calibri">
                <a:solidFill>
                  <a:srgbClr val="2D2D2D"/>
                </a:solidFill>
              </a:rPr>
              <a:t xml:space="preserve">$15-20M ARR (200+ customers, cross-sell)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Average ACV: </a:t>
            </a:r>
            <a:r>
              <a:rPr sz="1800" lang="en-US" ea="Calibri">
                <a:solidFill>
                  <a:srgbClr val="2D2D2D"/>
                </a:solidFill>
              </a:rPr>
              <a:t xml:space="preserve">$85K in Year 1, growing to $100K+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Gross margin: </a:t>
            </a:r>
            <a:r>
              <a:rPr sz="1800" lang="en-US" ea="Calibri">
                <a:solidFill>
                  <a:srgbClr val="2D2D2D"/>
                </a:solidFill>
              </a:rPr>
              <a:t xml:space="preserve">78-82% (SaaS platform economics)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Total investment required: </a:t>
            </a:r>
            <a:r>
              <a:rPr sz="1800" lang="en-US" ea="Calibri">
                <a:solidFill>
                  <a:srgbClr val="2D2D2D"/>
                </a:solidFill>
              </a:rPr>
              <a:t xml:space="preserve">$1.2M over 18 months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70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AccentLine"/>
          <p:cNvSpPr>
            <a:spLocks noGrp="1"/>
          </p:cNvSpPr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3" name="ThankYou"/>
          <p:cNvSpPr txBox="1"/>
          <p:nvPr/>
        </p:nvSpPr>
        <p:spPr>
          <a:xfrm>
            <a:off x="685800" y="2300000"/>
            <a:ext cx="10820400" cy="8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4400" lang="en-US" b="1" ea="Calibri">
                <a:solidFill>
                  <a:srgbClr val="FFFFFF"/>
                </a:solidFill>
              </a:rPr>
              <a:t xml:space="preserve">Thank You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4000000" y="3200000"/>
            <a:ext cx="4192000" cy="3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Subtitle"/>
          <p:cNvSpPr txBox="1"/>
          <p:nvPr/>
        </p:nvSpPr>
        <p:spPr>
          <a:xfrm>
            <a:off x="685800" y="3400000"/>
            <a:ext cx="10820400" cy="6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600" lang="en-US" ea="Calibri">
                <a:solidFill>
                  <a:srgbClr val="A0C8E8"/>
                </a:solidFill>
              </a:rPr>
              <a:t xml:space="preserve">Product Team — Acme Corp</a:t>
            </a:r>
          </a:p>
          <a:p algn="ctr">
            <a:r>
              <a:rPr sz="1600" lang="en-US" ea="Calibri">
                <a:solidFill>
                  <a:srgbClr val="A0C8E8"/>
                </a:solidFill>
              </a:rPr>
              <a:t xml:space="preserve">product@acmecorp.com</a:t>
            </a:r>
          </a:p>
        </p:txBody>
      </p:sp>
      <p:sp>
        <p:nvSpPr>
          <p:cNvPr id="6" name="AccentLine"/>
          <p:cNvSpPr>
            <a:spLocks noGrp="1"/>
          </p:cNvSpPr>
          <p:nvPr/>
        </p:nvSpPr>
        <p:spPr>
          <a:xfrm>
            <a:off x="685800" y="6578000"/>
            <a:ext cx="10820400" cy="12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8899AA"/>
                </a:solidFill>
              </a:rPr>
              <a:t xml:space="preserve"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Kinsey">
  <a:themeElements>
    <a:clrScheme name="McKinsey">
      <a:dk1>
        <a:srgbClr val="003A70"/>
      </a:dk1>
      <a:lt1>
        <a:srgbClr val="FFFFFF"/>
      </a:lt1>
      <a:dk2>
        <a:srgbClr val="2D2D2D"/>
      </a:dk2>
      <a:lt2>
        <a:srgbClr val="F2F2F2"/>
      </a:lt2>
      <a:accent1>
        <a:srgbClr val="003A70"/>
      </a:accent1>
      <a:accent2>
        <a:srgbClr val="5B9BD5"/>
      </a:accent2>
      <a:accent3>
        <a:srgbClr val="70AD47"/>
      </a:accent3>
      <a:accent4>
        <a:srgbClr val="FFC000"/>
      </a:accent4>
      <a:accent5>
        <a:srgbClr val="ED7D31"/>
      </a:accent5>
      <a:accent6>
        <a:srgbClr val="A5A5A5"/>
      </a:accent6>
      <a:hlink>
        <a:srgbClr val="4472C4"/>
      </a:hlink>
      <a:folHlink>
        <a:srgbClr val="954F72"/>
      </a:folHlink>
    </a:clrScheme>
  </a:themeElements>
</a:theme>
</file>